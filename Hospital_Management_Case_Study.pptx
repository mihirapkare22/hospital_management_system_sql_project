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0492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hospital database analysed with SQL joins, subqueries and aggregates.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7 tables linked by physician_id, department_id and patient_id foreign keys.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question: Which physician heads each department? All 15 departments have a named head, from Dr. Percival Cox (General Medicine) to Dr. Cali Vazquez (Orthopedics). Every head is a valid Physician record. Use department heads as the first contact for staffing and patient-care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question: Which doctor treated which patient, and for what? All 39 patients have a recorded diagnosis and prescription linked to a treating physician, so care can be traced end to end. Use this view for case reviews and to check each doctor's patient load.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question: Which patients are diagnosed with chronic pain? Two patients, Emily Johnson and Matthew Martinez, share the same chronic pain diagnosis and the same prescription, Tramadol. Schedule regular reviews for these patients and track their prescriptions.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question: Which procedures cost more than the average? The average procedure cost is 2,552.50. Eight of the 20 procedures cost more, led by the Upper GI Series (7,000) and MRI-Spine (6,000). Review use of the 8 high-cost procedures and plan budgets around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question: Which physicians have no primary department? Ten physicians have a non-primary affiliation. Two of them (Dr. Turk, Dr. Wen) also have a primary department. The other 8 have no primary department recorded. Assign a primary department to the 8 doctors who have none.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question: Who are the senior and head chief physicians? 15 of the 35 physicians hold a Senior or Head Chief title. They form the leadership layer, with department heads such as Dr. Kelso and Dr. Cook among them. Pair senior doctors with residents for mentoring and supervision.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A343A">
              <a:alpha val="80000"/>
            </a:srgbClr>
          </a:solidFill>
          <a:ln w="12700">
            <a:solidFill>
              <a:srgbClr val="2A343A"/>
            </a:solidFill>
            <a:prstDash val="solid"/>
          </a:ln>
        </p:spPr>
      </p:sp>
      <p:sp>
        <p:nvSpPr>
          <p:cNvPr id="3" name="Shape 1"/>
          <p:cNvSpPr/>
          <p:nvPr/>
        </p:nvSpPr>
        <p:spPr>
          <a:xfrm>
            <a:off x="6309360" y="1097280"/>
            <a:ext cx="2377440" cy="2377440"/>
          </a:xfrm>
          <a:prstGeom prst="ellipse">
            <a:avLst/>
          </a:prstGeom>
          <a:solidFill>
            <a:srgbClr val="1F262B"/>
          </a:solidFill>
          <a:ln w="38100">
            <a:solidFill>
              <a:srgbClr val="1F9E89"/>
            </a:solidFill>
            <a:prstDash val="solid"/>
          </a:ln>
        </p:spPr>
      </p:sp>
      <p:sp>
        <p:nvSpPr>
          <p:cNvPr id="4" name="Shape 2"/>
          <p:cNvSpPr/>
          <p:nvPr/>
        </p:nvSpPr>
        <p:spPr>
          <a:xfrm>
            <a:off x="7269480" y="1600200"/>
            <a:ext cx="457200" cy="1371600"/>
          </a:xfrm>
          <a:prstGeom prst="rect">
            <a:avLst/>
          </a:prstGeom>
          <a:solidFill>
            <a:srgbClr val="FFFFFF"/>
          </a:solidFill>
          <a:ln w="12700">
            <a:solidFill>
              <a:srgbClr val="FFFFFF"/>
            </a:solidFill>
            <a:prstDash val="solid"/>
          </a:ln>
        </p:spPr>
      </p:sp>
      <p:sp>
        <p:nvSpPr>
          <p:cNvPr id="5" name="Shape 3"/>
          <p:cNvSpPr/>
          <p:nvPr/>
        </p:nvSpPr>
        <p:spPr>
          <a:xfrm>
            <a:off x="6812280" y="2057400"/>
            <a:ext cx="1371600" cy="457200"/>
          </a:xfrm>
          <a:prstGeom prst="rect">
            <a:avLst/>
          </a:prstGeom>
          <a:solidFill>
            <a:srgbClr val="FFFFFF"/>
          </a:solidFill>
          <a:ln w="12700">
            <a:solidFill>
              <a:srgbClr val="FFFFFF"/>
            </a:solidFill>
            <a:prstDash val="solid"/>
          </a:ln>
        </p:spPr>
      </p:sp>
      <p:sp>
        <p:nvSpPr>
          <p:cNvPr id="6" name="Text 4"/>
          <p:cNvSpPr txBox="1"/>
          <p:nvPr/>
        </p:nvSpPr>
        <p:spPr>
          <a:xfrm>
            <a:off x="548640" y="1097280"/>
            <a:ext cx="5120640" cy="118872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Hospital Management System</a:t>
            </a:r>
            <a:endParaRPr lang="en-US" sz="3400" dirty="0"/>
          </a:p>
        </p:txBody>
      </p:sp>
      <p:sp>
        <p:nvSpPr>
          <p:cNvPr id="7" name="Text 5"/>
          <p:cNvSpPr txBox="1"/>
          <p:nvPr/>
        </p:nvSpPr>
        <p:spPr>
          <a:xfrm>
            <a:off x="548640" y="2377440"/>
            <a:ext cx="5120640" cy="365760"/>
          </a:xfrm>
          <a:prstGeom prst="rect">
            <a:avLst/>
          </a:prstGeom>
          <a:noFill/>
          <a:ln/>
        </p:spPr>
        <p:txBody>
          <a:bodyPr wrap="square" lIns="0" tIns="0" rIns="0" bIns="0" rtlCol="0" anchor="ctr"/>
          <a:lstStyle/>
          <a:p>
            <a:pPr marL="0" indent="0">
              <a:buNone/>
            </a:pPr>
            <a:r>
              <a:rPr lang="en-US" sz="1600" b="1" dirty="0">
                <a:solidFill>
                  <a:srgbClr val="F2A91E"/>
                </a:solidFill>
                <a:latin typeface="Calibri" pitchFamily="34" charset="0"/>
                <a:ea typeface="Calibri" pitchFamily="34" charset="-122"/>
                <a:cs typeface="Calibri" pitchFamily="34" charset="-120"/>
              </a:rPr>
              <a:t>Healthcare Data  |  SQL Case Study</a:t>
            </a:r>
            <a:endParaRPr lang="en-US" sz="1600" dirty="0"/>
          </a:p>
        </p:txBody>
      </p:sp>
      <p:sp>
        <p:nvSpPr>
          <p:cNvPr id="8" name="Text 6"/>
          <p:cNvSpPr txBox="1"/>
          <p:nvPr/>
        </p:nvSpPr>
        <p:spPr>
          <a:xfrm>
            <a:off x="548640" y="2788920"/>
            <a:ext cx="5120640" cy="320040"/>
          </a:xfrm>
          <a:prstGeom prst="rect">
            <a:avLst/>
          </a:prstGeom>
          <a:noFill/>
          <a:ln/>
        </p:spPr>
        <p:txBody>
          <a:bodyPr wrap="square" lIns="0" tIns="0" rIns="0" bIns="0" rtlCol="0" anchor="ctr"/>
          <a:lstStyle/>
          <a:p>
            <a:pPr marL="0" indent="0">
              <a:buNone/>
            </a:pPr>
            <a:r>
              <a:rPr lang="en-US" sz="1200" dirty="0">
                <a:solidFill>
                  <a:srgbClr val="C9D1D5"/>
                </a:solidFill>
                <a:latin typeface="Calibri" pitchFamily="34" charset="0"/>
                <a:ea typeface="Calibri" pitchFamily="34" charset="-122"/>
                <a:cs typeface="Calibri" pitchFamily="34" charset="-120"/>
              </a:rPr>
              <a:t>MySQL  |  SQL  |  MySQL Workbench</a:t>
            </a:r>
            <a:endParaRPr lang="en-US" sz="1200" dirty="0"/>
          </a:p>
        </p:txBody>
      </p:sp>
      <p:sp>
        <p:nvSpPr>
          <p:cNvPr id="9" name="Text 7"/>
          <p:cNvSpPr txBox="1"/>
          <p:nvPr/>
        </p:nvSpPr>
        <p:spPr>
          <a:xfrm>
            <a:off x="548640" y="4206240"/>
            <a:ext cx="5120640" cy="320040"/>
          </a:xfrm>
          <a:prstGeom prst="rect">
            <a:avLst/>
          </a:prstGeom>
          <a:noFill/>
          <a:ln/>
        </p:spPr>
        <p:txBody>
          <a:bodyPr wrap="square" lIns="0" tIns="0" rIns="0" bIns="0" rtlCol="0" anchor="ctr"/>
          <a:lstStyle/>
          <a:p>
            <a:pPr marL="0" indent="0">
              <a:buNone/>
            </a:pPr>
            <a:r>
              <a:rPr lang="en-US" sz="1200" dirty="0">
                <a:solidFill>
                  <a:srgbClr val="C9D1D5"/>
                </a:solidFill>
                <a:latin typeface="Calibri" pitchFamily="34" charset="0"/>
                <a:ea typeface="Calibri" pitchFamily="34" charset="-122"/>
                <a:cs typeface="Calibri" pitchFamily="34" charset="-120"/>
              </a:rPr>
              <a:t>Presented by </a:t>
            </a:r>
            <a:r>
              <a:rPr lang="en-US" sz="1200">
                <a:solidFill>
                  <a:srgbClr val="C9D1D5"/>
                </a:solidFill>
                <a:latin typeface="Calibri" pitchFamily="34" charset="0"/>
                <a:ea typeface="Calibri" pitchFamily="34" charset="-122"/>
                <a:cs typeface="Calibri" pitchFamily="34" charset="-120"/>
              </a:rPr>
              <a:t>Mihir Apkare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rgbClr val="1F262B"/>
                </a:solidFill>
                <a:latin typeface="Georgia" pitchFamily="34" charset="0"/>
                <a:ea typeface="Georgia" pitchFamily="34" charset="-122"/>
                <a:cs typeface="Georgia" pitchFamily="34" charset="-120"/>
              </a:rPr>
              <a:t>Project at a Glance</a:t>
            </a:r>
            <a:endParaRPr lang="en-US" sz="2800" dirty="0"/>
          </a:p>
        </p:txBody>
      </p:sp>
      <p:sp>
        <p:nvSpPr>
          <p:cNvPr id="3" name="Shape 1"/>
          <p:cNvSpPr/>
          <p:nvPr/>
        </p:nvSpPr>
        <p:spPr>
          <a:xfrm>
            <a:off x="548640" y="1051560"/>
            <a:ext cx="1874520" cy="1097280"/>
          </a:xfrm>
          <a:prstGeom prst="roundRect">
            <a:avLst>
              <a:gd name="adj" fmla="val 6667"/>
            </a:avLst>
          </a:prstGeom>
          <a:solidFill>
            <a:srgbClr val="1F9E89"/>
          </a:solidFill>
          <a:ln w="12700">
            <a:solidFill>
              <a:srgbClr val="1F9E89"/>
            </a:solidFill>
            <a:prstDash val="solid"/>
          </a:ln>
        </p:spPr>
      </p:sp>
      <p:sp>
        <p:nvSpPr>
          <p:cNvPr id="4" name="Text 2"/>
          <p:cNvSpPr txBox="1"/>
          <p:nvPr/>
        </p:nvSpPr>
        <p:spPr>
          <a:xfrm>
            <a:off x="548640" y="1097280"/>
            <a:ext cx="18745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7</a:t>
            </a:r>
            <a:endParaRPr lang="en-US" sz="3400" dirty="0"/>
          </a:p>
        </p:txBody>
      </p:sp>
      <p:sp>
        <p:nvSpPr>
          <p:cNvPr id="5" name="Text 3"/>
          <p:cNvSpPr txBox="1"/>
          <p:nvPr/>
        </p:nvSpPr>
        <p:spPr>
          <a:xfrm>
            <a:off x="640080" y="1691640"/>
            <a:ext cx="169164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relational tables</a:t>
            </a:r>
            <a:endParaRPr lang="en-US" sz="1100" dirty="0"/>
          </a:p>
        </p:txBody>
      </p:sp>
      <p:sp>
        <p:nvSpPr>
          <p:cNvPr id="6" name="Shape 4"/>
          <p:cNvSpPr/>
          <p:nvPr/>
        </p:nvSpPr>
        <p:spPr>
          <a:xfrm>
            <a:off x="2606040" y="1051560"/>
            <a:ext cx="1874520" cy="1097280"/>
          </a:xfrm>
          <a:prstGeom prst="roundRect">
            <a:avLst>
              <a:gd name="adj" fmla="val 6667"/>
            </a:avLst>
          </a:prstGeom>
          <a:solidFill>
            <a:srgbClr val="2B4A5A"/>
          </a:solidFill>
          <a:ln w="12700">
            <a:solidFill>
              <a:srgbClr val="2B4A5A"/>
            </a:solidFill>
            <a:prstDash val="solid"/>
          </a:ln>
        </p:spPr>
      </p:sp>
      <p:sp>
        <p:nvSpPr>
          <p:cNvPr id="7" name="Text 5"/>
          <p:cNvSpPr txBox="1"/>
          <p:nvPr/>
        </p:nvSpPr>
        <p:spPr>
          <a:xfrm>
            <a:off x="2606040" y="1097280"/>
            <a:ext cx="18745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35</a:t>
            </a:r>
            <a:endParaRPr lang="en-US" sz="3400" dirty="0"/>
          </a:p>
        </p:txBody>
      </p:sp>
      <p:sp>
        <p:nvSpPr>
          <p:cNvPr id="8" name="Text 6"/>
          <p:cNvSpPr txBox="1"/>
          <p:nvPr/>
        </p:nvSpPr>
        <p:spPr>
          <a:xfrm>
            <a:off x="2697480" y="1691640"/>
            <a:ext cx="169164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physicians in 15 departments</a:t>
            </a:r>
            <a:endParaRPr lang="en-US" sz="1100" dirty="0"/>
          </a:p>
        </p:txBody>
      </p:sp>
      <p:sp>
        <p:nvSpPr>
          <p:cNvPr id="9" name="Shape 7"/>
          <p:cNvSpPr/>
          <p:nvPr/>
        </p:nvSpPr>
        <p:spPr>
          <a:xfrm>
            <a:off x="4663440" y="1051560"/>
            <a:ext cx="1874520" cy="1097280"/>
          </a:xfrm>
          <a:prstGeom prst="roundRect">
            <a:avLst>
              <a:gd name="adj" fmla="val 6667"/>
            </a:avLst>
          </a:prstGeom>
          <a:solidFill>
            <a:srgbClr val="E8664D"/>
          </a:solidFill>
          <a:ln w="12700">
            <a:solidFill>
              <a:srgbClr val="E8664D"/>
            </a:solidFill>
            <a:prstDash val="solid"/>
          </a:ln>
        </p:spPr>
      </p:sp>
      <p:sp>
        <p:nvSpPr>
          <p:cNvPr id="10" name="Text 8"/>
          <p:cNvSpPr txBox="1"/>
          <p:nvPr/>
        </p:nvSpPr>
        <p:spPr>
          <a:xfrm>
            <a:off x="4663440" y="1097280"/>
            <a:ext cx="18745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39</a:t>
            </a:r>
            <a:endParaRPr lang="en-US" sz="3400" dirty="0"/>
          </a:p>
        </p:txBody>
      </p:sp>
      <p:sp>
        <p:nvSpPr>
          <p:cNvPr id="11" name="Text 9"/>
          <p:cNvSpPr txBox="1"/>
          <p:nvPr/>
        </p:nvSpPr>
        <p:spPr>
          <a:xfrm>
            <a:off x="4754880" y="1691640"/>
            <a:ext cx="169164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patient records</a:t>
            </a:r>
            <a:endParaRPr lang="en-US" sz="1100" dirty="0"/>
          </a:p>
        </p:txBody>
      </p:sp>
      <p:sp>
        <p:nvSpPr>
          <p:cNvPr id="12" name="Shape 10"/>
          <p:cNvSpPr/>
          <p:nvPr/>
        </p:nvSpPr>
        <p:spPr>
          <a:xfrm>
            <a:off x="6720840" y="1051560"/>
            <a:ext cx="1874520" cy="1097280"/>
          </a:xfrm>
          <a:prstGeom prst="roundRect">
            <a:avLst>
              <a:gd name="adj" fmla="val 6667"/>
            </a:avLst>
          </a:prstGeom>
          <a:solidFill>
            <a:srgbClr val="F2A91E"/>
          </a:solidFill>
          <a:ln w="12700">
            <a:solidFill>
              <a:srgbClr val="F2A91E"/>
            </a:solidFill>
            <a:prstDash val="solid"/>
          </a:ln>
        </p:spPr>
      </p:sp>
      <p:sp>
        <p:nvSpPr>
          <p:cNvPr id="13" name="Text 11"/>
          <p:cNvSpPr txBox="1"/>
          <p:nvPr/>
        </p:nvSpPr>
        <p:spPr>
          <a:xfrm>
            <a:off x="6720840" y="1097280"/>
            <a:ext cx="1874520"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6</a:t>
            </a:r>
            <a:endParaRPr lang="en-US" sz="3400" dirty="0"/>
          </a:p>
        </p:txBody>
      </p:sp>
      <p:sp>
        <p:nvSpPr>
          <p:cNvPr id="14" name="Text 12"/>
          <p:cNvSpPr txBox="1"/>
          <p:nvPr/>
        </p:nvSpPr>
        <p:spPr>
          <a:xfrm>
            <a:off x="6812280" y="1691640"/>
            <a:ext cx="169164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SQL analyses</a:t>
            </a:r>
            <a:endParaRPr lang="en-US" sz="1100" dirty="0"/>
          </a:p>
        </p:txBody>
      </p:sp>
      <p:sp>
        <p:nvSpPr>
          <p:cNvPr id="15" name="Text 13"/>
          <p:cNvSpPr txBox="1"/>
          <p:nvPr/>
        </p:nvSpPr>
        <p:spPr>
          <a:xfrm>
            <a:off x="548640" y="2377440"/>
            <a:ext cx="8046720" cy="274320"/>
          </a:xfrm>
          <a:prstGeom prst="rect">
            <a:avLst/>
          </a:prstGeom>
          <a:noFill/>
          <a:ln/>
        </p:spPr>
        <p:txBody>
          <a:bodyPr wrap="square" lIns="0" tIns="0" rIns="0" bIns="0" rtlCol="0" anchor="ctr"/>
          <a:lstStyle/>
          <a:p>
            <a:pPr marL="0" indent="0">
              <a:buNone/>
            </a:pPr>
            <a:r>
              <a:rPr lang="en-US" sz="1200" b="1" dirty="0">
                <a:solidFill>
                  <a:srgbClr val="5F6B73"/>
                </a:solidFill>
                <a:latin typeface="Calibri" pitchFamily="34" charset="0"/>
                <a:ea typeface="Calibri" pitchFamily="34" charset="-122"/>
                <a:cs typeface="Calibri" pitchFamily="34" charset="-120"/>
              </a:rPr>
              <a:t>Tables in the database</a:t>
            </a:r>
            <a:endParaRPr lang="en-US" sz="1200" dirty="0"/>
          </a:p>
        </p:txBody>
      </p:sp>
      <p:sp>
        <p:nvSpPr>
          <p:cNvPr id="16" name="Shape 14"/>
          <p:cNvSpPr/>
          <p:nvPr/>
        </p:nvSpPr>
        <p:spPr>
          <a:xfrm>
            <a:off x="548640" y="2697480"/>
            <a:ext cx="1097280" cy="365760"/>
          </a:xfrm>
          <a:prstGeom prst="roundRect">
            <a:avLst>
              <a:gd name="adj" fmla="val 12500"/>
            </a:avLst>
          </a:prstGeom>
          <a:solidFill>
            <a:srgbClr val="DDE3E6"/>
          </a:solidFill>
          <a:ln w="12700">
            <a:solidFill>
              <a:srgbClr val="DDE3E6"/>
            </a:solidFill>
            <a:prstDash val="solid"/>
          </a:ln>
        </p:spPr>
      </p:sp>
      <p:sp>
        <p:nvSpPr>
          <p:cNvPr id="17" name="Text 15"/>
          <p:cNvSpPr txBox="1"/>
          <p:nvPr/>
        </p:nvSpPr>
        <p:spPr>
          <a:xfrm>
            <a:off x="548640"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Physician</a:t>
            </a:r>
            <a:endParaRPr lang="en-US" sz="900" dirty="0"/>
          </a:p>
        </p:txBody>
      </p:sp>
      <p:sp>
        <p:nvSpPr>
          <p:cNvPr id="18" name="Shape 16"/>
          <p:cNvSpPr/>
          <p:nvPr/>
        </p:nvSpPr>
        <p:spPr>
          <a:xfrm>
            <a:off x="1709928" y="2697480"/>
            <a:ext cx="1097280" cy="365760"/>
          </a:xfrm>
          <a:prstGeom prst="roundRect">
            <a:avLst>
              <a:gd name="adj" fmla="val 12500"/>
            </a:avLst>
          </a:prstGeom>
          <a:solidFill>
            <a:srgbClr val="DDE3E6"/>
          </a:solidFill>
          <a:ln w="12700">
            <a:solidFill>
              <a:srgbClr val="DDE3E6"/>
            </a:solidFill>
            <a:prstDash val="solid"/>
          </a:ln>
        </p:spPr>
      </p:sp>
      <p:sp>
        <p:nvSpPr>
          <p:cNvPr id="19" name="Text 17"/>
          <p:cNvSpPr txBox="1"/>
          <p:nvPr/>
        </p:nvSpPr>
        <p:spPr>
          <a:xfrm>
            <a:off x="1709928"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Department</a:t>
            </a:r>
            <a:endParaRPr lang="en-US" sz="900" dirty="0"/>
          </a:p>
        </p:txBody>
      </p:sp>
      <p:sp>
        <p:nvSpPr>
          <p:cNvPr id="20" name="Shape 18"/>
          <p:cNvSpPr/>
          <p:nvPr/>
        </p:nvSpPr>
        <p:spPr>
          <a:xfrm>
            <a:off x="2871216" y="2697480"/>
            <a:ext cx="1097280" cy="365760"/>
          </a:xfrm>
          <a:prstGeom prst="roundRect">
            <a:avLst>
              <a:gd name="adj" fmla="val 12500"/>
            </a:avLst>
          </a:prstGeom>
          <a:solidFill>
            <a:srgbClr val="DDE3E6"/>
          </a:solidFill>
          <a:ln w="12700">
            <a:solidFill>
              <a:srgbClr val="DDE3E6"/>
            </a:solidFill>
            <a:prstDash val="solid"/>
          </a:ln>
        </p:spPr>
      </p:sp>
      <p:sp>
        <p:nvSpPr>
          <p:cNvPr id="21" name="Text 19"/>
          <p:cNvSpPr txBox="1"/>
          <p:nvPr/>
        </p:nvSpPr>
        <p:spPr>
          <a:xfrm>
            <a:off x="2871216"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Affiliated_with</a:t>
            </a:r>
            <a:endParaRPr lang="en-US" sz="900" dirty="0"/>
          </a:p>
        </p:txBody>
      </p:sp>
      <p:sp>
        <p:nvSpPr>
          <p:cNvPr id="22" name="Shape 20"/>
          <p:cNvSpPr/>
          <p:nvPr/>
        </p:nvSpPr>
        <p:spPr>
          <a:xfrm>
            <a:off x="4032504" y="2697480"/>
            <a:ext cx="1097280" cy="365760"/>
          </a:xfrm>
          <a:prstGeom prst="roundRect">
            <a:avLst>
              <a:gd name="adj" fmla="val 12500"/>
            </a:avLst>
          </a:prstGeom>
          <a:solidFill>
            <a:srgbClr val="DDE3E6"/>
          </a:solidFill>
          <a:ln w="12700">
            <a:solidFill>
              <a:srgbClr val="DDE3E6"/>
            </a:solidFill>
            <a:prstDash val="solid"/>
          </a:ln>
        </p:spPr>
      </p:sp>
      <p:sp>
        <p:nvSpPr>
          <p:cNvPr id="23" name="Text 21"/>
          <p:cNvSpPr txBox="1"/>
          <p:nvPr/>
        </p:nvSpPr>
        <p:spPr>
          <a:xfrm>
            <a:off x="4032504"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Nurse</a:t>
            </a:r>
            <a:endParaRPr lang="en-US" sz="900" dirty="0"/>
          </a:p>
        </p:txBody>
      </p:sp>
      <p:sp>
        <p:nvSpPr>
          <p:cNvPr id="24" name="Shape 22"/>
          <p:cNvSpPr/>
          <p:nvPr/>
        </p:nvSpPr>
        <p:spPr>
          <a:xfrm>
            <a:off x="5193792" y="2697480"/>
            <a:ext cx="1097280" cy="365760"/>
          </a:xfrm>
          <a:prstGeom prst="roundRect">
            <a:avLst>
              <a:gd name="adj" fmla="val 12500"/>
            </a:avLst>
          </a:prstGeom>
          <a:solidFill>
            <a:srgbClr val="DDE3E6"/>
          </a:solidFill>
          <a:ln w="12700">
            <a:solidFill>
              <a:srgbClr val="DDE3E6"/>
            </a:solidFill>
            <a:prstDash val="solid"/>
          </a:ln>
        </p:spPr>
      </p:sp>
      <p:sp>
        <p:nvSpPr>
          <p:cNvPr id="25" name="Text 23"/>
          <p:cNvSpPr txBox="1"/>
          <p:nvPr/>
        </p:nvSpPr>
        <p:spPr>
          <a:xfrm>
            <a:off x="5193792"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Patient</a:t>
            </a:r>
            <a:endParaRPr lang="en-US" sz="900" dirty="0"/>
          </a:p>
        </p:txBody>
      </p:sp>
      <p:sp>
        <p:nvSpPr>
          <p:cNvPr id="26" name="Shape 24"/>
          <p:cNvSpPr/>
          <p:nvPr/>
        </p:nvSpPr>
        <p:spPr>
          <a:xfrm>
            <a:off x="6355080" y="2697480"/>
            <a:ext cx="1097280" cy="365760"/>
          </a:xfrm>
          <a:prstGeom prst="roundRect">
            <a:avLst>
              <a:gd name="adj" fmla="val 12500"/>
            </a:avLst>
          </a:prstGeom>
          <a:solidFill>
            <a:srgbClr val="DDE3E6"/>
          </a:solidFill>
          <a:ln w="12700">
            <a:solidFill>
              <a:srgbClr val="DDE3E6"/>
            </a:solidFill>
            <a:prstDash val="solid"/>
          </a:ln>
        </p:spPr>
      </p:sp>
      <p:sp>
        <p:nvSpPr>
          <p:cNvPr id="27" name="Text 25"/>
          <p:cNvSpPr txBox="1"/>
          <p:nvPr/>
        </p:nvSpPr>
        <p:spPr>
          <a:xfrm>
            <a:off x="6355080"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Patient_Diagnosis</a:t>
            </a:r>
            <a:endParaRPr lang="en-US" sz="900" dirty="0"/>
          </a:p>
        </p:txBody>
      </p:sp>
      <p:sp>
        <p:nvSpPr>
          <p:cNvPr id="28" name="Shape 26"/>
          <p:cNvSpPr/>
          <p:nvPr/>
        </p:nvSpPr>
        <p:spPr>
          <a:xfrm>
            <a:off x="7516368" y="2697480"/>
            <a:ext cx="1097280" cy="365760"/>
          </a:xfrm>
          <a:prstGeom prst="roundRect">
            <a:avLst>
              <a:gd name="adj" fmla="val 12500"/>
            </a:avLst>
          </a:prstGeom>
          <a:solidFill>
            <a:srgbClr val="DDE3E6"/>
          </a:solidFill>
          <a:ln w="12700">
            <a:solidFill>
              <a:srgbClr val="DDE3E6"/>
            </a:solidFill>
            <a:prstDash val="solid"/>
          </a:ln>
        </p:spPr>
      </p:sp>
      <p:sp>
        <p:nvSpPr>
          <p:cNvPr id="29" name="Text 27"/>
          <p:cNvSpPr txBox="1"/>
          <p:nvPr/>
        </p:nvSpPr>
        <p:spPr>
          <a:xfrm>
            <a:off x="7516368" y="2697480"/>
            <a:ext cx="1097280" cy="365760"/>
          </a:xfrm>
          <a:prstGeom prst="rect">
            <a:avLst/>
          </a:prstGeom>
          <a:noFill/>
          <a:ln/>
        </p:spPr>
        <p:txBody>
          <a:bodyPr wrap="square" lIns="0" tIns="0" rIns="0" bIns="0" rtlCol="0" anchor="ctr"/>
          <a:lstStyle/>
          <a:p>
            <a:pPr marL="0" indent="0" algn="ctr">
              <a:buNone/>
            </a:pPr>
            <a:r>
              <a:rPr lang="en-US" sz="900" b="1" dirty="0">
                <a:solidFill>
                  <a:srgbClr val="1F262B"/>
                </a:solidFill>
                <a:latin typeface="Calibri" pitchFamily="34" charset="0"/>
                <a:ea typeface="Calibri" pitchFamily="34" charset="-122"/>
                <a:cs typeface="Calibri" pitchFamily="34" charset="-120"/>
              </a:rPr>
              <a:t>Procedures</a:t>
            </a:r>
            <a:endParaRPr lang="en-US" sz="900" dirty="0"/>
          </a:p>
        </p:txBody>
      </p:sp>
      <p:sp>
        <p:nvSpPr>
          <p:cNvPr id="30" name="Shape 28"/>
          <p:cNvSpPr/>
          <p:nvPr/>
        </p:nvSpPr>
        <p:spPr>
          <a:xfrm>
            <a:off x="548640" y="3474720"/>
            <a:ext cx="8046720" cy="914400"/>
          </a:xfrm>
          <a:prstGeom prst="roundRect">
            <a:avLst>
              <a:gd name="adj" fmla="val 8000"/>
            </a:avLst>
          </a:prstGeom>
          <a:solidFill>
            <a:srgbClr val="1F262B"/>
          </a:solidFill>
          <a:ln w="12700">
            <a:solidFill>
              <a:srgbClr val="1F262B"/>
            </a:solidFill>
            <a:prstDash val="solid"/>
          </a:ln>
        </p:spPr>
      </p:sp>
      <p:sp>
        <p:nvSpPr>
          <p:cNvPr id="31" name="Text 29"/>
          <p:cNvSpPr txBox="1"/>
          <p:nvPr/>
        </p:nvSpPr>
        <p:spPr>
          <a:xfrm>
            <a:off x="777240" y="3520440"/>
            <a:ext cx="7589520" cy="822960"/>
          </a:xfrm>
          <a:prstGeom prst="rect">
            <a:avLst/>
          </a:prstGeom>
          <a:noFill/>
          <a:ln/>
        </p:spPr>
        <p:txBody>
          <a:bodyPr wrap="square" lIns="0" tIns="0" rIns="0" bIns="0" rtlCol="0" anchor="ctr"/>
          <a:lstStyle/>
          <a:p>
            <a:pPr marL="0" indent="0">
              <a:buNone/>
            </a:pPr>
            <a:r>
              <a:rPr lang="en-US" sz="1300" b="1" dirty="0">
                <a:solidFill>
                  <a:srgbClr val="F2A91E"/>
                </a:solidFill>
                <a:latin typeface="Calibri" pitchFamily="34" charset="0"/>
                <a:ea typeface="Calibri" pitchFamily="34" charset="-122"/>
                <a:cs typeface="Calibri" pitchFamily="34" charset="-120"/>
              </a:rPr>
              <a:t>Objective: </a:t>
            </a:r>
            <a:r>
              <a:rPr lang="en-US" sz="1300" dirty="0">
                <a:solidFill>
                  <a:srgbClr val="FFFFFF"/>
                </a:solidFill>
                <a:latin typeface="Calibri" pitchFamily="34" charset="0"/>
                <a:ea typeface="Calibri" pitchFamily="34" charset="-122"/>
                <a:cs typeface="Calibri" pitchFamily="34" charset="-120"/>
              </a:rPr>
              <a:t>use SQL joins, subqueries and aggregates to understand hospital staffing, patient care, department structure and procedure costs.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468880" cy="5143500"/>
          </a:xfrm>
          <a:prstGeom prst="rect">
            <a:avLst/>
          </a:prstGeom>
          <a:solidFill>
            <a:srgbClr val="1F262B"/>
          </a:solidFill>
          <a:ln w="12700">
            <a:solidFill>
              <a:srgbClr val="1F262B"/>
            </a:solidFill>
            <a:prstDash val="solid"/>
          </a:ln>
        </p:spPr>
      </p:sp>
      <p:sp>
        <p:nvSpPr>
          <p:cNvPr id="3" name="Text 1"/>
          <p:cNvSpPr txBox="1"/>
          <p:nvPr/>
        </p:nvSpPr>
        <p:spPr>
          <a:xfrm>
            <a:off x="274320" y="320040"/>
            <a:ext cx="1371600" cy="548640"/>
          </a:xfrm>
          <a:prstGeom prst="rect">
            <a:avLst/>
          </a:prstGeom>
          <a:noFill/>
          <a:ln/>
        </p:spPr>
        <p:txBody>
          <a:bodyPr wrap="square" lIns="0" tIns="0" rIns="0" bIns="0" rtlCol="0" anchor="ctr"/>
          <a:lstStyle/>
          <a:p>
            <a:pPr marL="0" indent="0">
              <a:buNone/>
            </a:pPr>
            <a:r>
              <a:rPr lang="en-US" sz="3200" b="1" dirty="0">
                <a:solidFill>
                  <a:srgbClr val="F2A91E"/>
                </a:solidFill>
                <a:latin typeface="Georgia" pitchFamily="34" charset="0"/>
                <a:ea typeface="Georgia" pitchFamily="34" charset="-122"/>
                <a:cs typeface="Georgia" pitchFamily="34" charset="-120"/>
              </a:rPr>
              <a:t>01</a:t>
            </a:r>
            <a:endParaRPr lang="en-US" sz="3200" dirty="0"/>
          </a:p>
        </p:txBody>
      </p:sp>
      <p:sp>
        <p:nvSpPr>
          <p:cNvPr id="4" name="Text 2"/>
          <p:cNvSpPr txBox="1"/>
          <p:nvPr/>
        </p:nvSpPr>
        <p:spPr>
          <a:xfrm>
            <a:off x="274320" y="109728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BUSINESS QUESTION</a:t>
            </a:r>
            <a:endParaRPr lang="en-US" sz="800" dirty="0"/>
          </a:p>
        </p:txBody>
      </p:sp>
      <p:sp>
        <p:nvSpPr>
          <p:cNvPr id="5" name="Text 3"/>
          <p:cNvSpPr txBox="1"/>
          <p:nvPr/>
        </p:nvSpPr>
        <p:spPr>
          <a:xfrm>
            <a:off x="274320" y="1325880"/>
            <a:ext cx="2011680" cy="8686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Which physician heads each department?</a:t>
            </a:r>
            <a:endParaRPr lang="en-US" sz="1400" dirty="0"/>
          </a:p>
        </p:txBody>
      </p:sp>
      <p:sp>
        <p:nvSpPr>
          <p:cNvPr id="6" name="Text 4"/>
          <p:cNvSpPr txBox="1"/>
          <p:nvPr/>
        </p:nvSpPr>
        <p:spPr>
          <a:xfrm>
            <a:off x="274320" y="237744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WHY IT MATTERS</a:t>
            </a:r>
            <a:endParaRPr lang="en-US" sz="800" dirty="0"/>
          </a:p>
        </p:txBody>
      </p:sp>
      <p:sp>
        <p:nvSpPr>
          <p:cNvPr id="7" name="Text 5"/>
          <p:cNvSpPr txBox="1"/>
          <p:nvPr/>
        </p:nvSpPr>
        <p:spPr>
          <a:xfrm>
            <a:off x="274320" y="2606040"/>
            <a:ext cx="2011680" cy="1371600"/>
          </a:xfrm>
          <a:prstGeom prst="rect">
            <a:avLst/>
          </a:prstGeom>
          <a:noFill/>
          <a:ln/>
        </p:spPr>
        <p:txBody>
          <a:bodyPr wrap="square" lIns="0" tIns="0" rIns="0" bIns="0" rtlCol="0" anchor="t"/>
          <a:lstStyle/>
          <a:p>
            <a:pPr marL="0" indent="0">
              <a:buNone/>
            </a:pPr>
            <a:r>
              <a:rPr lang="en-US" sz="1050" dirty="0">
                <a:solidFill>
                  <a:srgbClr val="DDE3E6"/>
                </a:solidFill>
                <a:latin typeface="Calibri" pitchFamily="34" charset="0"/>
                <a:ea typeface="Calibri" pitchFamily="34" charset="-122"/>
                <a:cs typeface="Calibri" pitchFamily="34" charset="-120"/>
              </a:rPr>
              <a:t>Knowing who leads each department gives a clear chain of responsibility for staffing and escalation.</a:t>
            </a:r>
            <a:endParaRPr lang="en-US" sz="1050" dirty="0"/>
          </a:p>
        </p:txBody>
      </p:sp>
      <p:sp>
        <p:nvSpPr>
          <p:cNvPr id="8" name="Text 6"/>
          <p:cNvSpPr txBox="1"/>
          <p:nvPr/>
        </p:nvSpPr>
        <p:spPr>
          <a:xfrm>
            <a:off x="274320" y="4663440"/>
            <a:ext cx="2011680" cy="228600"/>
          </a:xfrm>
          <a:prstGeom prst="rect">
            <a:avLst/>
          </a:prstGeom>
          <a:noFill/>
          <a:ln/>
        </p:spPr>
        <p:txBody>
          <a:bodyPr wrap="square" lIns="0" tIns="0" rIns="0" bIns="0" rtlCol="0" anchor="ctr"/>
          <a:lstStyle/>
          <a:p>
            <a:pPr marL="0" indent="0">
              <a:buNone/>
            </a:pPr>
            <a:r>
              <a:rPr lang="en-US" sz="800" dirty="0">
                <a:solidFill>
                  <a:srgbClr val="9AA6AD"/>
                </a:solidFill>
                <a:latin typeface="Calibri" pitchFamily="34" charset="0"/>
                <a:ea typeface="Calibri" pitchFamily="34" charset="-122"/>
                <a:cs typeface="Calibri" pitchFamily="34" charset="-120"/>
              </a:rPr>
              <a:t>INNER JOIN  |  foreign key</a:t>
            </a:r>
            <a:endParaRPr lang="en-US" sz="800" dirty="0"/>
          </a:p>
        </p:txBody>
      </p:sp>
      <p:sp>
        <p:nvSpPr>
          <p:cNvPr id="9" name="Shape 7"/>
          <p:cNvSpPr/>
          <p:nvPr/>
        </p:nvSpPr>
        <p:spPr>
          <a:xfrm>
            <a:off x="2743200" y="274320"/>
            <a:ext cx="6035040" cy="1005840"/>
          </a:xfrm>
          <a:prstGeom prst="roundRect">
            <a:avLst>
              <a:gd name="adj" fmla="val 7273"/>
            </a:avLst>
          </a:prstGeom>
          <a:solidFill>
            <a:srgbClr val="1F9E89"/>
          </a:solidFill>
          <a:ln w="12700">
            <a:solidFill>
              <a:srgbClr val="1F9E89"/>
            </a:solidFill>
            <a:prstDash val="solid"/>
          </a:ln>
        </p:spPr>
      </p:sp>
      <p:sp>
        <p:nvSpPr>
          <p:cNvPr id="10" name="Text 8"/>
          <p:cNvSpPr txBox="1"/>
          <p:nvPr/>
        </p:nvSpPr>
        <p:spPr>
          <a:xfrm>
            <a:off x="2926080" y="347472"/>
            <a:ext cx="274320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KEY INSIGHT</a:t>
            </a:r>
            <a:endParaRPr lang="en-US" sz="800" dirty="0"/>
          </a:p>
        </p:txBody>
      </p:sp>
      <p:sp>
        <p:nvSpPr>
          <p:cNvPr id="11" name="Text 9"/>
          <p:cNvSpPr txBox="1"/>
          <p:nvPr/>
        </p:nvSpPr>
        <p:spPr>
          <a:xfrm>
            <a:off x="2926080" y="566928"/>
            <a:ext cx="5669280" cy="64008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All 15 departments have a named head, from Dr. Percival Cox (General Medicine) to Dr. Cali Vazquez (Orthopedics). Every head is a valid Physician record.</a:t>
            </a:r>
            <a:endParaRPr lang="en-US" sz="1150" dirty="0"/>
          </a:p>
        </p:txBody>
      </p:sp>
      <p:sp>
        <p:nvSpPr>
          <p:cNvPr id="12" name="Shape 10"/>
          <p:cNvSpPr/>
          <p:nvPr/>
        </p:nvSpPr>
        <p:spPr>
          <a:xfrm>
            <a:off x="2743200" y="1463040"/>
            <a:ext cx="3063240" cy="2240280"/>
          </a:xfrm>
          <a:prstGeom prst="roundRect">
            <a:avLst>
              <a:gd name="adj" fmla="val 2449"/>
            </a:avLst>
          </a:prstGeom>
          <a:solidFill>
            <a:srgbClr val="151B1F"/>
          </a:solidFill>
          <a:ln w="12700">
            <a:solidFill>
              <a:srgbClr val="151B1F"/>
            </a:solidFill>
            <a:prstDash val="solid"/>
          </a:ln>
        </p:spPr>
      </p:sp>
      <p:sp>
        <p:nvSpPr>
          <p:cNvPr id="13" name="Text 11"/>
          <p:cNvSpPr txBox="1"/>
          <p:nvPr/>
        </p:nvSpPr>
        <p:spPr>
          <a:xfrm>
            <a:off x="2852928" y="1536192"/>
            <a:ext cx="2880360" cy="2103120"/>
          </a:xfrm>
          <a:prstGeom prst="rect">
            <a:avLst/>
          </a:prstGeom>
          <a:noFill/>
          <a:ln/>
        </p:spPr>
        <p:txBody>
          <a:bodyPr wrap="square" lIns="0" tIns="0" rIns="0" bIns="0" rtlCol="0" anchor="t"/>
          <a:lstStyle/>
          <a:p>
            <a:pPr marL="0" indent="0">
              <a:buNone/>
            </a:pPr>
            <a:r>
              <a:rPr lang="en-US" sz="800" dirty="0">
                <a:solidFill>
                  <a:srgbClr val="E8EDEF"/>
                </a:solidFill>
                <a:latin typeface="Consolas" pitchFamily="34" charset="0"/>
                <a:ea typeface="Consolas" pitchFamily="34" charset="-122"/>
                <a:cs typeface="Consolas" pitchFamily="34" charset="-120"/>
              </a:rPr>
              <a:t>-- Head of each department</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SELECT p.name AS doctor_name,</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d.dept_name</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FROM physician p</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INNER JOIN department d</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ON p.employee_id = d.head;</a:t>
            </a:r>
            <a:endParaRPr lang="en-US" sz="800" dirty="0"/>
          </a:p>
        </p:txBody>
      </p:sp>
      <p:sp>
        <p:nvSpPr>
          <p:cNvPr id="14" name="Shape 12"/>
          <p:cNvSpPr/>
          <p:nvPr/>
        </p:nvSpPr>
        <p:spPr>
          <a:xfrm>
            <a:off x="5943600" y="1463040"/>
            <a:ext cx="2834640" cy="2240280"/>
          </a:xfrm>
          <a:prstGeom prst="roundRect">
            <a:avLst>
              <a:gd name="adj" fmla="val 2449"/>
            </a:avLst>
          </a:prstGeom>
          <a:solidFill>
            <a:srgbClr val="F2A91E"/>
          </a:solidFill>
          <a:ln w="12700">
            <a:solidFill>
              <a:srgbClr val="F2A9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2651760" cy="914400"/>
        </p:xfrm>
        <a:graphic>
          <a:graphicData uri="http://schemas.openxmlformats.org/drawingml/2006/table">
            <a:tbl>
              <a:tblPr/>
              <a:tblGrid>
                <a:gridCol w="1408747">
                  <a:extLst>
                    <a:ext uri="{9D8B030D-6E8A-4147-A177-3AD203B41FA5}">
                      <a16:colId xmlns:a16="http://schemas.microsoft.com/office/drawing/2014/main" val="20000"/>
                    </a:ext>
                  </a:extLst>
                </a:gridCol>
                <a:gridCol w="1243012">
                  <a:extLst>
                    <a:ext uri="{9D8B030D-6E8A-4147-A177-3AD203B41FA5}">
                      <a16:colId xmlns:a16="http://schemas.microsoft.com/office/drawing/2014/main" val="20001"/>
                    </a:ext>
                  </a:extLst>
                </a:gridCol>
              </a:tblGrid>
              <a:tr h="24688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doctor_name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dept_name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Dr.Percival Cox</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General Medicine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Dr.John Wen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Dr.Molly Clock</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Psychiatry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Dr.Nancy James</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Cardiology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Dr.Imani Harper</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Nephrology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3"/>
          <p:cNvSpPr txBox="1"/>
          <p:nvPr/>
        </p:nvSpPr>
        <p:spPr>
          <a:xfrm>
            <a:off x="6035040" y="3456432"/>
            <a:ext cx="2651760" cy="201168"/>
          </a:xfrm>
          <a:prstGeom prst="rect">
            <a:avLst/>
          </a:prstGeom>
          <a:noFill/>
          <a:ln/>
        </p:spPr>
        <p:txBody>
          <a:bodyPr wrap="square" lIns="0" tIns="0" rIns="0" bIns="0" rtlCol="0" anchor="ctr"/>
          <a:lstStyle/>
          <a:p>
            <a:pPr marL="0" indent="0">
              <a:buNone/>
            </a:pPr>
            <a:r>
              <a:rPr lang="en-US" sz="800" i="1" dirty="0">
                <a:solidFill>
                  <a:srgbClr val="1F262B"/>
                </a:solidFill>
                <a:latin typeface="Calibri" pitchFamily="34" charset="0"/>
                <a:ea typeface="Calibri" pitchFamily="34" charset="-122"/>
                <a:cs typeface="Calibri" pitchFamily="34" charset="-120"/>
              </a:rPr>
              <a:t>Showing 5 of 15 rows</a:t>
            </a:r>
            <a:endParaRPr lang="en-US" sz="800" dirty="0"/>
          </a:p>
        </p:txBody>
      </p:sp>
      <p:sp>
        <p:nvSpPr>
          <p:cNvPr id="17" name="Shape 14"/>
          <p:cNvSpPr/>
          <p:nvPr/>
        </p:nvSpPr>
        <p:spPr>
          <a:xfrm>
            <a:off x="2743200" y="3931920"/>
            <a:ext cx="6035040" cy="731520"/>
          </a:xfrm>
          <a:prstGeom prst="roundRect">
            <a:avLst>
              <a:gd name="adj" fmla="val 10000"/>
            </a:avLst>
          </a:prstGeom>
          <a:solidFill>
            <a:srgbClr val="FFFFFF"/>
          </a:solidFill>
          <a:ln w="12700">
            <a:solidFill>
              <a:srgbClr val="DDE3E6"/>
            </a:solidFill>
            <a:prstDash val="solid"/>
          </a:ln>
        </p:spPr>
      </p:sp>
      <p:sp>
        <p:nvSpPr>
          <p:cNvPr id="18" name="Text 15"/>
          <p:cNvSpPr txBox="1"/>
          <p:nvPr/>
        </p:nvSpPr>
        <p:spPr>
          <a:xfrm>
            <a:off x="2926080" y="3931920"/>
            <a:ext cx="5669280" cy="731520"/>
          </a:xfrm>
          <a:prstGeom prst="rect">
            <a:avLst/>
          </a:prstGeom>
          <a:noFill/>
          <a:ln/>
        </p:spPr>
        <p:txBody>
          <a:bodyPr wrap="square" lIns="0" tIns="0" rIns="0" bIns="0" rtlCol="0" anchor="ctr"/>
          <a:lstStyle/>
          <a:p>
            <a:pPr marL="0" indent="0">
              <a:buNone/>
            </a:pPr>
            <a:r>
              <a:rPr lang="en-US" sz="900" b="1" dirty="0">
                <a:solidFill>
                  <a:srgbClr val="E8664D"/>
                </a:solidFill>
                <a:latin typeface="Calibri" pitchFamily="34" charset="0"/>
                <a:ea typeface="Calibri" pitchFamily="34" charset="-122"/>
                <a:cs typeface="Calibri" pitchFamily="34" charset="-120"/>
              </a:rPr>
              <a:t>WHAT WE DO   </a:t>
            </a:r>
            <a:r>
              <a:rPr lang="en-US" sz="1150" b="1" dirty="0">
                <a:solidFill>
                  <a:srgbClr val="1F262B"/>
                </a:solidFill>
                <a:latin typeface="Calibri" pitchFamily="34" charset="0"/>
                <a:ea typeface="Calibri" pitchFamily="34" charset="-122"/>
                <a:cs typeface="Calibri" pitchFamily="34" charset="-120"/>
              </a:rPr>
              <a:t>Use department heads as the first contact for staffing and patient-care decisions.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468880" cy="5143500"/>
          </a:xfrm>
          <a:prstGeom prst="rect">
            <a:avLst/>
          </a:prstGeom>
          <a:solidFill>
            <a:srgbClr val="1F262B"/>
          </a:solidFill>
          <a:ln w="12700">
            <a:solidFill>
              <a:srgbClr val="1F262B"/>
            </a:solidFill>
            <a:prstDash val="solid"/>
          </a:ln>
        </p:spPr>
      </p:sp>
      <p:sp>
        <p:nvSpPr>
          <p:cNvPr id="3" name="Text 1"/>
          <p:cNvSpPr txBox="1"/>
          <p:nvPr/>
        </p:nvSpPr>
        <p:spPr>
          <a:xfrm>
            <a:off x="274320" y="320040"/>
            <a:ext cx="1371600" cy="548640"/>
          </a:xfrm>
          <a:prstGeom prst="rect">
            <a:avLst/>
          </a:prstGeom>
          <a:noFill/>
          <a:ln/>
        </p:spPr>
        <p:txBody>
          <a:bodyPr wrap="square" lIns="0" tIns="0" rIns="0" bIns="0" rtlCol="0" anchor="ctr"/>
          <a:lstStyle/>
          <a:p>
            <a:pPr marL="0" indent="0">
              <a:buNone/>
            </a:pPr>
            <a:r>
              <a:rPr lang="en-US" sz="3200" b="1" dirty="0">
                <a:solidFill>
                  <a:srgbClr val="F2A91E"/>
                </a:solidFill>
                <a:latin typeface="Georgia" pitchFamily="34" charset="0"/>
                <a:ea typeface="Georgia" pitchFamily="34" charset="-122"/>
                <a:cs typeface="Georgia" pitchFamily="34" charset="-120"/>
              </a:rPr>
              <a:t>02</a:t>
            </a:r>
            <a:endParaRPr lang="en-US" sz="3200" dirty="0"/>
          </a:p>
        </p:txBody>
      </p:sp>
      <p:sp>
        <p:nvSpPr>
          <p:cNvPr id="4" name="Text 2"/>
          <p:cNvSpPr txBox="1"/>
          <p:nvPr/>
        </p:nvSpPr>
        <p:spPr>
          <a:xfrm>
            <a:off x="274320" y="109728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BUSINESS QUESTION</a:t>
            </a:r>
            <a:endParaRPr lang="en-US" sz="800" dirty="0"/>
          </a:p>
        </p:txBody>
      </p:sp>
      <p:sp>
        <p:nvSpPr>
          <p:cNvPr id="5" name="Text 3"/>
          <p:cNvSpPr txBox="1"/>
          <p:nvPr/>
        </p:nvSpPr>
        <p:spPr>
          <a:xfrm>
            <a:off x="274320" y="1325880"/>
            <a:ext cx="2011680" cy="8686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Which doctor treated which patient, and for what?</a:t>
            </a:r>
            <a:endParaRPr lang="en-US" sz="1400" dirty="0"/>
          </a:p>
        </p:txBody>
      </p:sp>
      <p:sp>
        <p:nvSpPr>
          <p:cNvPr id="6" name="Text 4"/>
          <p:cNvSpPr txBox="1"/>
          <p:nvPr/>
        </p:nvSpPr>
        <p:spPr>
          <a:xfrm>
            <a:off x="274320" y="237744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WHY IT MATTERS</a:t>
            </a:r>
            <a:endParaRPr lang="en-US" sz="800" dirty="0"/>
          </a:p>
        </p:txBody>
      </p:sp>
      <p:sp>
        <p:nvSpPr>
          <p:cNvPr id="7" name="Text 5"/>
          <p:cNvSpPr txBox="1"/>
          <p:nvPr/>
        </p:nvSpPr>
        <p:spPr>
          <a:xfrm>
            <a:off x="274320" y="2606040"/>
            <a:ext cx="2011680" cy="1371600"/>
          </a:xfrm>
          <a:prstGeom prst="rect">
            <a:avLst/>
          </a:prstGeom>
          <a:noFill/>
          <a:ln/>
        </p:spPr>
        <p:txBody>
          <a:bodyPr wrap="square" lIns="0" tIns="0" rIns="0" bIns="0" rtlCol="0" anchor="t"/>
          <a:lstStyle/>
          <a:p>
            <a:pPr marL="0" indent="0">
              <a:buNone/>
            </a:pPr>
            <a:r>
              <a:rPr lang="en-US" sz="1050" dirty="0">
                <a:solidFill>
                  <a:srgbClr val="DDE3E6"/>
                </a:solidFill>
                <a:latin typeface="Calibri" pitchFamily="34" charset="0"/>
                <a:ea typeface="Calibri" pitchFamily="34" charset="-122"/>
                <a:cs typeface="Calibri" pitchFamily="34" charset="-120"/>
              </a:rPr>
              <a:t>Links patients, doctors and treatments in one view. This is the core record of the hospital.</a:t>
            </a:r>
            <a:endParaRPr lang="en-US" sz="1050" dirty="0"/>
          </a:p>
        </p:txBody>
      </p:sp>
      <p:sp>
        <p:nvSpPr>
          <p:cNvPr id="8" name="Text 6"/>
          <p:cNvSpPr txBox="1"/>
          <p:nvPr/>
        </p:nvSpPr>
        <p:spPr>
          <a:xfrm>
            <a:off x="274320" y="4663440"/>
            <a:ext cx="2011680" cy="228600"/>
          </a:xfrm>
          <a:prstGeom prst="rect">
            <a:avLst/>
          </a:prstGeom>
          <a:noFill/>
          <a:ln/>
        </p:spPr>
        <p:txBody>
          <a:bodyPr wrap="square" lIns="0" tIns="0" rIns="0" bIns="0" rtlCol="0" anchor="ctr"/>
          <a:lstStyle/>
          <a:p>
            <a:pPr marL="0" indent="0">
              <a:buNone/>
            </a:pPr>
            <a:r>
              <a:rPr lang="en-US" sz="800" dirty="0">
                <a:solidFill>
                  <a:srgbClr val="9AA6AD"/>
                </a:solidFill>
                <a:latin typeface="Calibri" pitchFamily="34" charset="0"/>
                <a:ea typeface="Calibri" pitchFamily="34" charset="-122"/>
                <a:cs typeface="Calibri" pitchFamily="34" charset="-120"/>
              </a:rPr>
              <a:t>LEFT JOIN  |  3 tables</a:t>
            </a:r>
            <a:endParaRPr lang="en-US" sz="800" dirty="0"/>
          </a:p>
        </p:txBody>
      </p:sp>
      <p:sp>
        <p:nvSpPr>
          <p:cNvPr id="9" name="Shape 7"/>
          <p:cNvSpPr/>
          <p:nvPr/>
        </p:nvSpPr>
        <p:spPr>
          <a:xfrm>
            <a:off x="2743200" y="274320"/>
            <a:ext cx="6035040" cy="1005840"/>
          </a:xfrm>
          <a:prstGeom prst="roundRect">
            <a:avLst>
              <a:gd name="adj" fmla="val 7273"/>
            </a:avLst>
          </a:prstGeom>
          <a:solidFill>
            <a:srgbClr val="1F9E89"/>
          </a:solidFill>
          <a:ln w="12700">
            <a:solidFill>
              <a:srgbClr val="1F9E89"/>
            </a:solidFill>
            <a:prstDash val="solid"/>
          </a:ln>
        </p:spPr>
      </p:sp>
      <p:sp>
        <p:nvSpPr>
          <p:cNvPr id="10" name="Text 8"/>
          <p:cNvSpPr txBox="1"/>
          <p:nvPr/>
        </p:nvSpPr>
        <p:spPr>
          <a:xfrm>
            <a:off x="2926080" y="347472"/>
            <a:ext cx="274320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KEY INSIGHT</a:t>
            </a:r>
            <a:endParaRPr lang="en-US" sz="800" dirty="0"/>
          </a:p>
        </p:txBody>
      </p:sp>
      <p:sp>
        <p:nvSpPr>
          <p:cNvPr id="11" name="Text 9"/>
          <p:cNvSpPr txBox="1"/>
          <p:nvPr/>
        </p:nvSpPr>
        <p:spPr>
          <a:xfrm>
            <a:off x="2926080" y="566928"/>
            <a:ext cx="5669280" cy="64008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All 39 patients have a recorded diagnosis and prescription linked to a treating physician, so care can be traced end to end.</a:t>
            </a:r>
            <a:endParaRPr lang="en-US" sz="1150" dirty="0"/>
          </a:p>
        </p:txBody>
      </p:sp>
      <p:sp>
        <p:nvSpPr>
          <p:cNvPr id="12" name="Shape 10"/>
          <p:cNvSpPr/>
          <p:nvPr/>
        </p:nvSpPr>
        <p:spPr>
          <a:xfrm>
            <a:off x="2743200" y="1463040"/>
            <a:ext cx="3063240" cy="2240280"/>
          </a:xfrm>
          <a:prstGeom prst="roundRect">
            <a:avLst>
              <a:gd name="adj" fmla="val 2449"/>
            </a:avLst>
          </a:prstGeom>
          <a:solidFill>
            <a:srgbClr val="151B1F"/>
          </a:solidFill>
          <a:ln w="12700">
            <a:solidFill>
              <a:srgbClr val="151B1F"/>
            </a:solidFill>
            <a:prstDash val="solid"/>
          </a:ln>
        </p:spPr>
      </p:sp>
      <p:sp>
        <p:nvSpPr>
          <p:cNvPr id="13" name="Text 11"/>
          <p:cNvSpPr txBox="1"/>
          <p:nvPr/>
        </p:nvSpPr>
        <p:spPr>
          <a:xfrm>
            <a:off x="2852928" y="1536192"/>
            <a:ext cx="2880360" cy="2103120"/>
          </a:xfrm>
          <a:prstGeom prst="rect">
            <a:avLst/>
          </a:prstGeom>
          <a:noFill/>
          <a:ln/>
        </p:spPr>
        <p:txBody>
          <a:bodyPr wrap="square" lIns="0" tIns="0" rIns="0" bIns="0" rtlCol="0" anchor="t"/>
          <a:lstStyle/>
          <a:p>
            <a:pPr marL="0" indent="0">
              <a:buNone/>
            </a:pPr>
            <a:r>
              <a:rPr lang="en-US" sz="800" dirty="0">
                <a:solidFill>
                  <a:srgbClr val="E8EDEF"/>
                </a:solidFill>
                <a:latin typeface="Consolas" pitchFamily="34" charset="0"/>
                <a:ea typeface="Consolas" pitchFamily="34" charset="-122"/>
                <a:cs typeface="Consolas" pitchFamily="34" charset="-120"/>
              </a:rPr>
              <a:t>-- Patient, doctor, diagnosis</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SELECT ph.name AS physician,</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CONCAT(p.name,' ',p.surname)</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AS patient,</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pd.diagnosis, pd.prescription</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FROM patient_diagnosis pd</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LEFT JOIN physician ph</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ON pd.physician_id=ph.employee_id</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LEFT JOIN patient p</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ON p.patient_id=pd.patient_id;</a:t>
            </a:r>
            <a:endParaRPr lang="en-US" sz="800" dirty="0"/>
          </a:p>
        </p:txBody>
      </p:sp>
      <p:sp>
        <p:nvSpPr>
          <p:cNvPr id="14" name="Shape 12"/>
          <p:cNvSpPr/>
          <p:nvPr/>
        </p:nvSpPr>
        <p:spPr>
          <a:xfrm>
            <a:off x="5943600" y="1463040"/>
            <a:ext cx="2834640" cy="2240280"/>
          </a:xfrm>
          <a:prstGeom prst="roundRect">
            <a:avLst>
              <a:gd name="adj" fmla="val 2449"/>
            </a:avLst>
          </a:prstGeom>
          <a:solidFill>
            <a:srgbClr val="F2A91E"/>
          </a:solidFill>
          <a:ln w="12700">
            <a:solidFill>
              <a:srgbClr val="F2A9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2651760" cy="914400"/>
        </p:xfrm>
        <a:graphic>
          <a:graphicData uri="http://schemas.openxmlformats.org/drawingml/2006/table">
            <a:tbl>
              <a:tblPr/>
              <a:tblGrid>
                <a:gridCol w="911543">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911543">
                  <a:extLst>
                    <a:ext uri="{9D8B030D-6E8A-4147-A177-3AD203B41FA5}">
                      <a16:colId xmlns:a16="http://schemas.microsoft.com/office/drawing/2014/main" val="20002"/>
                    </a:ext>
                  </a:extLst>
                </a:gridCol>
              </a:tblGrid>
              <a:tr h="24688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physician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patient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diagnosis</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Dr.Elliot Reid</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John Smith</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Hypertension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Dr.Elliot Reid</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Grace Ritchie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Asthma</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Dr.Molly Clock</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Remo Xavier</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Anxiety Disorder</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Dr.Rosalie Vaughn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Dennis Doe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Arthritis</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 13"/>
          <p:cNvSpPr txBox="1"/>
          <p:nvPr/>
        </p:nvSpPr>
        <p:spPr>
          <a:xfrm>
            <a:off x="6035040" y="3456432"/>
            <a:ext cx="2651760" cy="201168"/>
          </a:xfrm>
          <a:prstGeom prst="rect">
            <a:avLst/>
          </a:prstGeom>
          <a:noFill/>
          <a:ln/>
        </p:spPr>
        <p:txBody>
          <a:bodyPr wrap="square" lIns="0" tIns="0" rIns="0" bIns="0" rtlCol="0" anchor="ctr"/>
          <a:lstStyle/>
          <a:p>
            <a:pPr marL="0" indent="0">
              <a:buNone/>
            </a:pPr>
            <a:r>
              <a:rPr lang="en-US" sz="800" i="1" dirty="0">
                <a:solidFill>
                  <a:srgbClr val="1F262B"/>
                </a:solidFill>
                <a:latin typeface="Calibri" pitchFamily="34" charset="0"/>
                <a:ea typeface="Calibri" pitchFamily="34" charset="-122"/>
                <a:cs typeface="Calibri" pitchFamily="34" charset="-120"/>
              </a:rPr>
              <a:t>Showing 4 of 39 rows</a:t>
            </a:r>
            <a:endParaRPr lang="en-US" sz="800" dirty="0"/>
          </a:p>
        </p:txBody>
      </p:sp>
      <p:sp>
        <p:nvSpPr>
          <p:cNvPr id="17" name="Shape 14"/>
          <p:cNvSpPr/>
          <p:nvPr/>
        </p:nvSpPr>
        <p:spPr>
          <a:xfrm>
            <a:off x="2743200" y="3931920"/>
            <a:ext cx="6035040" cy="731520"/>
          </a:xfrm>
          <a:prstGeom prst="roundRect">
            <a:avLst>
              <a:gd name="adj" fmla="val 10000"/>
            </a:avLst>
          </a:prstGeom>
          <a:solidFill>
            <a:srgbClr val="FFFFFF"/>
          </a:solidFill>
          <a:ln w="12700">
            <a:solidFill>
              <a:srgbClr val="DDE3E6"/>
            </a:solidFill>
            <a:prstDash val="solid"/>
          </a:ln>
        </p:spPr>
      </p:sp>
      <p:sp>
        <p:nvSpPr>
          <p:cNvPr id="18" name="Text 15"/>
          <p:cNvSpPr txBox="1"/>
          <p:nvPr/>
        </p:nvSpPr>
        <p:spPr>
          <a:xfrm>
            <a:off x="2926080" y="3931920"/>
            <a:ext cx="5669280" cy="731520"/>
          </a:xfrm>
          <a:prstGeom prst="rect">
            <a:avLst/>
          </a:prstGeom>
          <a:noFill/>
          <a:ln/>
        </p:spPr>
        <p:txBody>
          <a:bodyPr wrap="square" lIns="0" tIns="0" rIns="0" bIns="0" rtlCol="0" anchor="ctr"/>
          <a:lstStyle/>
          <a:p>
            <a:pPr marL="0" indent="0">
              <a:buNone/>
            </a:pPr>
            <a:r>
              <a:rPr lang="en-US" sz="900" b="1" dirty="0">
                <a:solidFill>
                  <a:srgbClr val="E8664D"/>
                </a:solidFill>
                <a:latin typeface="Calibri" pitchFamily="34" charset="0"/>
                <a:ea typeface="Calibri" pitchFamily="34" charset="-122"/>
                <a:cs typeface="Calibri" pitchFamily="34" charset="-120"/>
              </a:rPr>
              <a:t>WHAT WE DO   </a:t>
            </a:r>
            <a:r>
              <a:rPr lang="en-US" sz="1150" b="1" dirty="0">
                <a:solidFill>
                  <a:srgbClr val="1F262B"/>
                </a:solidFill>
                <a:latin typeface="Calibri" pitchFamily="34" charset="0"/>
                <a:ea typeface="Calibri" pitchFamily="34" charset="-122"/>
                <a:cs typeface="Calibri" pitchFamily="34" charset="-120"/>
              </a:rPr>
              <a:t>Use this view for case reviews and to check each doctor's patient load.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468880" cy="5143500"/>
          </a:xfrm>
          <a:prstGeom prst="rect">
            <a:avLst/>
          </a:prstGeom>
          <a:solidFill>
            <a:srgbClr val="1F262B"/>
          </a:solidFill>
          <a:ln w="12700">
            <a:solidFill>
              <a:srgbClr val="1F262B"/>
            </a:solidFill>
            <a:prstDash val="solid"/>
          </a:ln>
        </p:spPr>
      </p:sp>
      <p:sp>
        <p:nvSpPr>
          <p:cNvPr id="3" name="Text 1"/>
          <p:cNvSpPr txBox="1"/>
          <p:nvPr/>
        </p:nvSpPr>
        <p:spPr>
          <a:xfrm>
            <a:off x="274320" y="320040"/>
            <a:ext cx="1371600" cy="548640"/>
          </a:xfrm>
          <a:prstGeom prst="rect">
            <a:avLst/>
          </a:prstGeom>
          <a:noFill/>
          <a:ln/>
        </p:spPr>
        <p:txBody>
          <a:bodyPr wrap="square" lIns="0" tIns="0" rIns="0" bIns="0" rtlCol="0" anchor="ctr"/>
          <a:lstStyle/>
          <a:p>
            <a:pPr marL="0" indent="0">
              <a:buNone/>
            </a:pPr>
            <a:r>
              <a:rPr lang="en-US" sz="3200" b="1" dirty="0">
                <a:solidFill>
                  <a:srgbClr val="F2A91E"/>
                </a:solidFill>
                <a:latin typeface="Georgia" pitchFamily="34" charset="0"/>
                <a:ea typeface="Georgia" pitchFamily="34" charset="-122"/>
                <a:cs typeface="Georgia" pitchFamily="34" charset="-120"/>
              </a:rPr>
              <a:t>03</a:t>
            </a:r>
            <a:endParaRPr lang="en-US" sz="3200" dirty="0"/>
          </a:p>
        </p:txBody>
      </p:sp>
      <p:sp>
        <p:nvSpPr>
          <p:cNvPr id="4" name="Text 2"/>
          <p:cNvSpPr txBox="1"/>
          <p:nvPr/>
        </p:nvSpPr>
        <p:spPr>
          <a:xfrm>
            <a:off x="274320" y="109728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BUSINESS QUESTION</a:t>
            </a:r>
            <a:endParaRPr lang="en-US" sz="800" dirty="0"/>
          </a:p>
        </p:txBody>
      </p:sp>
      <p:sp>
        <p:nvSpPr>
          <p:cNvPr id="5" name="Text 3"/>
          <p:cNvSpPr txBox="1"/>
          <p:nvPr/>
        </p:nvSpPr>
        <p:spPr>
          <a:xfrm>
            <a:off x="274320" y="1325880"/>
            <a:ext cx="2011680" cy="8686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Which patients are diagnosed with chronic pain?</a:t>
            </a:r>
            <a:endParaRPr lang="en-US" sz="1400" dirty="0"/>
          </a:p>
        </p:txBody>
      </p:sp>
      <p:sp>
        <p:nvSpPr>
          <p:cNvPr id="6" name="Text 4"/>
          <p:cNvSpPr txBox="1"/>
          <p:nvPr/>
        </p:nvSpPr>
        <p:spPr>
          <a:xfrm>
            <a:off x="274320" y="237744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WHY IT MATTERS</a:t>
            </a:r>
            <a:endParaRPr lang="en-US" sz="800" dirty="0"/>
          </a:p>
        </p:txBody>
      </p:sp>
      <p:sp>
        <p:nvSpPr>
          <p:cNvPr id="7" name="Text 5"/>
          <p:cNvSpPr txBox="1"/>
          <p:nvPr/>
        </p:nvSpPr>
        <p:spPr>
          <a:xfrm>
            <a:off x="274320" y="2606040"/>
            <a:ext cx="2011680" cy="1371600"/>
          </a:xfrm>
          <a:prstGeom prst="rect">
            <a:avLst/>
          </a:prstGeom>
          <a:noFill/>
          <a:ln/>
        </p:spPr>
        <p:txBody>
          <a:bodyPr wrap="square" lIns="0" tIns="0" rIns="0" bIns="0" rtlCol="0" anchor="t"/>
          <a:lstStyle/>
          <a:p>
            <a:pPr marL="0" indent="0">
              <a:buNone/>
            </a:pPr>
            <a:r>
              <a:rPr lang="en-US" sz="1050" dirty="0">
                <a:solidFill>
                  <a:srgbClr val="DDE3E6"/>
                </a:solidFill>
                <a:latin typeface="Calibri" pitchFamily="34" charset="0"/>
                <a:ea typeface="Calibri" pitchFamily="34" charset="-122"/>
                <a:cs typeface="Calibri" pitchFamily="34" charset="-120"/>
              </a:rPr>
              <a:t>Chronic pain needs long-term follow-up. Tramadol is a controlled drug, so these cases should be monitored.</a:t>
            </a:r>
            <a:endParaRPr lang="en-US" sz="1050" dirty="0"/>
          </a:p>
        </p:txBody>
      </p:sp>
      <p:sp>
        <p:nvSpPr>
          <p:cNvPr id="8" name="Text 6"/>
          <p:cNvSpPr txBox="1"/>
          <p:nvPr/>
        </p:nvSpPr>
        <p:spPr>
          <a:xfrm>
            <a:off x="274320" y="4663440"/>
            <a:ext cx="2011680" cy="228600"/>
          </a:xfrm>
          <a:prstGeom prst="rect">
            <a:avLst/>
          </a:prstGeom>
          <a:noFill/>
          <a:ln/>
        </p:spPr>
        <p:txBody>
          <a:bodyPr wrap="square" lIns="0" tIns="0" rIns="0" bIns="0" rtlCol="0" anchor="ctr"/>
          <a:lstStyle/>
          <a:p>
            <a:pPr marL="0" indent="0">
              <a:buNone/>
            </a:pPr>
            <a:r>
              <a:rPr lang="en-US" sz="800" dirty="0">
                <a:solidFill>
                  <a:srgbClr val="9AA6AD"/>
                </a:solidFill>
                <a:latin typeface="Calibri" pitchFamily="34" charset="0"/>
                <a:ea typeface="Calibri" pitchFamily="34" charset="-122"/>
                <a:cs typeface="Calibri" pitchFamily="34" charset="-120"/>
              </a:rPr>
              <a:t>Subquery  |  IN</a:t>
            </a:r>
            <a:endParaRPr lang="en-US" sz="800" dirty="0"/>
          </a:p>
        </p:txBody>
      </p:sp>
      <p:sp>
        <p:nvSpPr>
          <p:cNvPr id="9" name="Shape 7"/>
          <p:cNvSpPr/>
          <p:nvPr/>
        </p:nvSpPr>
        <p:spPr>
          <a:xfrm>
            <a:off x="2743200" y="274320"/>
            <a:ext cx="6035040" cy="1005840"/>
          </a:xfrm>
          <a:prstGeom prst="roundRect">
            <a:avLst>
              <a:gd name="adj" fmla="val 7273"/>
            </a:avLst>
          </a:prstGeom>
          <a:solidFill>
            <a:srgbClr val="1F9E89"/>
          </a:solidFill>
          <a:ln w="12700">
            <a:solidFill>
              <a:srgbClr val="1F9E89"/>
            </a:solidFill>
            <a:prstDash val="solid"/>
          </a:ln>
        </p:spPr>
      </p:sp>
      <p:sp>
        <p:nvSpPr>
          <p:cNvPr id="10" name="Text 8"/>
          <p:cNvSpPr txBox="1"/>
          <p:nvPr/>
        </p:nvSpPr>
        <p:spPr>
          <a:xfrm>
            <a:off x="2926080" y="347472"/>
            <a:ext cx="274320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KEY INSIGHT</a:t>
            </a:r>
            <a:endParaRPr lang="en-US" sz="800" dirty="0"/>
          </a:p>
        </p:txBody>
      </p:sp>
      <p:sp>
        <p:nvSpPr>
          <p:cNvPr id="11" name="Text 9"/>
          <p:cNvSpPr txBox="1"/>
          <p:nvPr/>
        </p:nvSpPr>
        <p:spPr>
          <a:xfrm>
            <a:off x="2926080" y="566928"/>
            <a:ext cx="5669280" cy="64008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Two patients, Emily Johnson and Matthew Martinez, share the same chronic pain diagnosis and the same prescription, Tramadol.</a:t>
            </a:r>
            <a:endParaRPr lang="en-US" sz="1150" dirty="0"/>
          </a:p>
        </p:txBody>
      </p:sp>
      <p:sp>
        <p:nvSpPr>
          <p:cNvPr id="12" name="Shape 10"/>
          <p:cNvSpPr/>
          <p:nvPr/>
        </p:nvSpPr>
        <p:spPr>
          <a:xfrm>
            <a:off x="2743200" y="1463040"/>
            <a:ext cx="3063240" cy="2240280"/>
          </a:xfrm>
          <a:prstGeom prst="roundRect">
            <a:avLst>
              <a:gd name="adj" fmla="val 2449"/>
            </a:avLst>
          </a:prstGeom>
          <a:solidFill>
            <a:srgbClr val="151B1F"/>
          </a:solidFill>
          <a:ln w="12700">
            <a:solidFill>
              <a:srgbClr val="151B1F"/>
            </a:solidFill>
            <a:prstDash val="solid"/>
          </a:ln>
        </p:spPr>
      </p:sp>
      <p:sp>
        <p:nvSpPr>
          <p:cNvPr id="13" name="Text 11"/>
          <p:cNvSpPr txBox="1"/>
          <p:nvPr/>
        </p:nvSpPr>
        <p:spPr>
          <a:xfrm>
            <a:off x="2852928" y="1536192"/>
            <a:ext cx="2880360" cy="2103120"/>
          </a:xfrm>
          <a:prstGeom prst="rect">
            <a:avLst/>
          </a:prstGeom>
          <a:noFill/>
          <a:ln/>
        </p:spPr>
        <p:txBody>
          <a:bodyPr wrap="square" lIns="0" tIns="0" rIns="0" bIns="0" rtlCol="0" anchor="t"/>
          <a:lstStyle/>
          <a:p>
            <a:pPr marL="0" indent="0">
              <a:buNone/>
            </a:pPr>
            <a:r>
              <a:rPr lang="en-US" sz="800" dirty="0">
                <a:solidFill>
                  <a:srgbClr val="E8EDEF"/>
                </a:solidFill>
                <a:latin typeface="Consolas" pitchFamily="34" charset="0"/>
                <a:ea typeface="Consolas" pitchFamily="34" charset="-122"/>
                <a:cs typeface="Consolas" pitchFamily="34" charset="-120"/>
              </a:rPr>
              <a:t>-- Chronic pain patients</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SELECT * FROM Patient</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WHERE patient_id IN (</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SELECT patient_id</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FROM patient_diagnosis</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WHERE diagnosis = 'Chronic Pain'</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5943600" y="1463040"/>
            <a:ext cx="2834640" cy="2240280"/>
          </a:xfrm>
          <a:prstGeom prst="roundRect">
            <a:avLst>
              <a:gd name="adj" fmla="val 2449"/>
            </a:avLst>
          </a:prstGeom>
          <a:solidFill>
            <a:srgbClr val="F2A91E"/>
          </a:solidFill>
          <a:ln w="12700">
            <a:solidFill>
              <a:srgbClr val="F2A9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2651760" cy="914400"/>
        </p:xfrm>
        <a:graphic>
          <a:graphicData uri="http://schemas.openxmlformats.org/drawingml/2006/table">
            <a:tbl>
              <a:tblPr/>
              <a:tblGrid>
                <a:gridCol w="580072">
                  <a:extLst>
                    <a:ext uri="{9D8B030D-6E8A-4147-A177-3AD203B41FA5}">
                      <a16:colId xmlns:a16="http://schemas.microsoft.com/office/drawing/2014/main" val="20000"/>
                    </a:ext>
                  </a:extLst>
                </a:gridCol>
                <a:gridCol w="745807">
                  <a:extLst>
                    <a:ext uri="{9D8B030D-6E8A-4147-A177-3AD203B41FA5}">
                      <a16:colId xmlns:a16="http://schemas.microsoft.com/office/drawing/2014/main" val="20001"/>
                    </a:ext>
                  </a:extLst>
                </a:gridCol>
                <a:gridCol w="745807">
                  <a:extLst>
                    <a:ext uri="{9D8B030D-6E8A-4147-A177-3AD203B41FA5}">
                      <a16:colId xmlns:a16="http://schemas.microsoft.com/office/drawing/2014/main" val="20002"/>
                    </a:ext>
                  </a:extLst>
                </a:gridCol>
                <a:gridCol w="580072">
                  <a:extLst>
                    <a:ext uri="{9D8B030D-6E8A-4147-A177-3AD203B41FA5}">
                      <a16:colId xmlns:a16="http://schemas.microsoft.com/office/drawing/2014/main" val="20003"/>
                    </a:ext>
                  </a:extLst>
                </a:gridCol>
              </a:tblGrid>
              <a:tr h="24688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patient_id</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surname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primary_check</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Emily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Johnson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Matthew</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Martinez</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6" name="Text 13"/>
          <p:cNvSpPr txBox="1"/>
          <p:nvPr/>
        </p:nvSpPr>
        <p:spPr>
          <a:xfrm>
            <a:off x="6035040" y="3456432"/>
            <a:ext cx="2651760" cy="201168"/>
          </a:xfrm>
          <a:prstGeom prst="rect">
            <a:avLst/>
          </a:prstGeom>
          <a:noFill/>
          <a:ln/>
        </p:spPr>
        <p:txBody>
          <a:bodyPr wrap="square" lIns="0" tIns="0" rIns="0" bIns="0" rtlCol="0" anchor="ctr"/>
          <a:lstStyle/>
          <a:p>
            <a:pPr marL="0" indent="0">
              <a:buNone/>
            </a:pPr>
            <a:r>
              <a:rPr lang="en-US" sz="800" i="1" dirty="0">
                <a:solidFill>
                  <a:srgbClr val="1F262B"/>
                </a:solidFill>
                <a:latin typeface="Calibri" pitchFamily="34" charset="0"/>
                <a:ea typeface="Calibri" pitchFamily="34" charset="-122"/>
                <a:cs typeface="Calibri" pitchFamily="34" charset="-120"/>
              </a:rPr>
              <a:t>2 rows returned</a:t>
            </a:r>
            <a:endParaRPr lang="en-US" sz="800" dirty="0"/>
          </a:p>
        </p:txBody>
      </p:sp>
      <p:sp>
        <p:nvSpPr>
          <p:cNvPr id="17" name="Shape 14"/>
          <p:cNvSpPr/>
          <p:nvPr/>
        </p:nvSpPr>
        <p:spPr>
          <a:xfrm>
            <a:off x="2743200" y="3931920"/>
            <a:ext cx="6035040" cy="731520"/>
          </a:xfrm>
          <a:prstGeom prst="roundRect">
            <a:avLst>
              <a:gd name="adj" fmla="val 10000"/>
            </a:avLst>
          </a:prstGeom>
          <a:solidFill>
            <a:srgbClr val="FFFFFF"/>
          </a:solidFill>
          <a:ln w="12700">
            <a:solidFill>
              <a:srgbClr val="DDE3E6"/>
            </a:solidFill>
            <a:prstDash val="solid"/>
          </a:ln>
        </p:spPr>
      </p:sp>
      <p:sp>
        <p:nvSpPr>
          <p:cNvPr id="18" name="Text 15"/>
          <p:cNvSpPr txBox="1"/>
          <p:nvPr/>
        </p:nvSpPr>
        <p:spPr>
          <a:xfrm>
            <a:off x="2926080" y="3931920"/>
            <a:ext cx="5669280" cy="731520"/>
          </a:xfrm>
          <a:prstGeom prst="rect">
            <a:avLst/>
          </a:prstGeom>
          <a:noFill/>
          <a:ln/>
        </p:spPr>
        <p:txBody>
          <a:bodyPr wrap="square" lIns="0" tIns="0" rIns="0" bIns="0" rtlCol="0" anchor="ctr"/>
          <a:lstStyle/>
          <a:p>
            <a:pPr marL="0" indent="0">
              <a:buNone/>
            </a:pPr>
            <a:r>
              <a:rPr lang="en-US" sz="900" b="1" dirty="0">
                <a:solidFill>
                  <a:srgbClr val="E8664D"/>
                </a:solidFill>
                <a:latin typeface="Calibri" pitchFamily="34" charset="0"/>
                <a:ea typeface="Calibri" pitchFamily="34" charset="-122"/>
                <a:cs typeface="Calibri" pitchFamily="34" charset="-120"/>
              </a:rPr>
              <a:t>WHAT WE DO   </a:t>
            </a:r>
            <a:r>
              <a:rPr lang="en-US" sz="1150" b="1" dirty="0">
                <a:solidFill>
                  <a:srgbClr val="1F262B"/>
                </a:solidFill>
                <a:latin typeface="Calibri" pitchFamily="34" charset="0"/>
                <a:ea typeface="Calibri" pitchFamily="34" charset="-122"/>
                <a:cs typeface="Calibri" pitchFamily="34" charset="-120"/>
              </a:rPr>
              <a:t>Schedule regular reviews for these patients and track their prescriptions.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468880" cy="5143500"/>
          </a:xfrm>
          <a:prstGeom prst="rect">
            <a:avLst/>
          </a:prstGeom>
          <a:solidFill>
            <a:srgbClr val="1F262B"/>
          </a:solidFill>
          <a:ln w="12700">
            <a:solidFill>
              <a:srgbClr val="1F262B"/>
            </a:solidFill>
            <a:prstDash val="solid"/>
          </a:ln>
        </p:spPr>
      </p:sp>
      <p:sp>
        <p:nvSpPr>
          <p:cNvPr id="3" name="Text 1"/>
          <p:cNvSpPr txBox="1"/>
          <p:nvPr/>
        </p:nvSpPr>
        <p:spPr>
          <a:xfrm>
            <a:off x="274320" y="320040"/>
            <a:ext cx="1371600" cy="548640"/>
          </a:xfrm>
          <a:prstGeom prst="rect">
            <a:avLst/>
          </a:prstGeom>
          <a:noFill/>
          <a:ln/>
        </p:spPr>
        <p:txBody>
          <a:bodyPr wrap="square" lIns="0" tIns="0" rIns="0" bIns="0" rtlCol="0" anchor="ctr"/>
          <a:lstStyle/>
          <a:p>
            <a:pPr marL="0" indent="0">
              <a:buNone/>
            </a:pPr>
            <a:r>
              <a:rPr lang="en-US" sz="3200" b="1" dirty="0">
                <a:solidFill>
                  <a:srgbClr val="F2A91E"/>
                </a:solidFill>
                <a:latin typeface="Georgia" pitchFamily="34" charset="0"/>
                <a:ea typeface="Georgia" pitchFamily="34" charset="-122"/>
                <a:cs typeface="Georgia" pitchFamily="34" charset="-120"/>
              </a:rPr>
              <a:t>04</a:t>
            </a:r>
            <a:endParaRPr lang="en-US" sz="3200" dirty="0"/>
          </a:p>
        </p:txBody>
      </p:sp>
      <p:sp>
        <p:nvSpPr>
          <p:cNvPr id="4" name="Text 2"/>
          <p:cNvSpPr txBox="1"/>
          <p:nvPr/>
        </p:nvSpPr>
        <p:spPr>
          <a:xfrm>
            <a:off x="274320" y="109728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BUSINESS QUESTION</a:t>
            </a:r>
            <a:endParaRPr lang="en-US" sz="800" dirty="0"/>
          </a:p>
        </p:txBody>
      </p:sp>
      <p:sp>
        <p:nvSpPr>
          <p:cNvPr id="5" name="Text 3"/>
          <p:cNvSpPr txBox="1"/>
          <p:nvPr/>
        </p:nvSpPr>
        <p:spPr>
          <a:xfrm>
            <a:off x="274320" y="1325880"/>
            <a:ext cx="2011680" cy="8686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Which procedures cost more than the average?</a:t>
            </a:r>
            <a:endParaRPr lang="en-US" sz="1400" dirty="0"/>
          </a:p>
        </p:txBody>
      </p:sp>
      <p:sp>
        <p:nvSpPr>
          <p:cNvPr id="6" name="Text 4"/>
          <p:cNvSpPr txBox="1"/>
          <p:nvPr/>
        </p:nvSpPr>
        <p:spPr>
          <a:xfrm>
            <a:off x="274320" y="237744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WHY IT MATTERS</a:t>
            </a:r>
            <a:endParaRPr lang="en-US" sz="800" dirty="0"/>
          </a:p>
        </p:txBody>
      </p:sp>
      <p:sp>
        <p:nvSpPr>
          <p:cNvPr id="7" name="Text 5"/>
          <p:cNvSpPr txBox="1"/>
          <p:nvPr/>
        </p:nvSpPr>
        <p:spPr>
          <a:xfrm>
            <a:off x="274320" y="2606040"/>
            <a:ext cx="2011680" cy="1371600"/>
          </a:xfrm>
          <a:prstGeom prst="rect">
            <a:avLst/>
          </a:prstGeom>
          <a:noFill/>
          <a:ln/>
        </p:spPr>
        <p:txBody>
          <a:bodyPr wrap="square" lIns="0" tIns="0" rIns="0" bIns="0" rtlCol="0" anchor="t"/>
          <a:lstStyle/>
          <a:p>
            <a:pPr marL="0" indent="0">
              <a:buNone/>
            </a:pPr>
            <a:r>
              <a:rPr lang="en-US" sz="1050" dirty="0">
                <a:solidFill>
                  <a:srgbClr val="DDE3E6"/>
                </a:solidFill>
                <a:latin typeface="Calibri" pitchFamily="34" charset="0"/>
                <a:ea typeface="Calibri" pitchFamily="34" charset="-122"/>
                <a:cs typeface="Calibri" pitchFamily="34" charset="-120"/>
              </a:rPr>
              <a:t>A few high-cost scans such as MRI, CT and PET-CT drive most of the diagnostic bill.</a:t>
            </a:r>
            <a:endParaRPr lang="en-US" sz="1050" dirty="0"/>
          </a:p>
        </p:txBody>
      </p:sp>
      <p:sp>
        <p:nvSpPr>
          <p:cNvPr id="8" name="Text 6"/>
          <p:cNvSpPr txBox="1"/>
          <p:nvPr/>
        </p:nvSpPr>
        <p:spPr>
          <a:xfrm>
            <a:off x="274320" y="4663440"/>
            <a:ext cx="2011680" cy="228600"/>
          </a:xfrm>
          <a:prstGeom prst="rect">
            <a:avLst/>
          </a:prstGeom>
          <a:noFill/>
          <a:ln/>
        </p:spPr>
        <p:txBody>
          <a:bodyPr wrap="square" lIns="0" tIns="0" rIns="0" bIns="0" rtlCol="0" anchor="ctr"/>
          <a:lstStyle/>
          <a:p>
            <a:pPr marL="0" indent="0">
              <a:buNone/>
            </a:pPr>
            <a:r>
              <a:rPr lang="en-US" sz="800" dirty="0">
                <a:solidFill>
                  <a:srgbClr val="9AA6AD"/>
                </a:solidFill>
                <a:latin typeface="Calibri" pitchFamily="34" charset="0"/>
                <a:ea typeface="Calibri" pitchFamily="34" charset="-122"/>
                <a:cs typeface="Calibri" pitchFamily="34" charset="-120"/>
              </a:rPr>
              <a:t>Subquery  |  AVG</a:t>
            </a:r>
            <a:endParaRPr lang="en-US" sz="800" dirty="0"/>
          </a:p>
        </p:txBody>
      </p:sp>
      <p:sp>
        <p:nvSpPr>
          <p:cNvPr id="9" name="Shape 7"/>
          <p:cNvSpPr/>
          <p:nvPr/>
        </p:nvSpPr>
        <p:spPr>
          <a:xfrm>
            <a:off x="2743200" y="274320"/>
            <a:ext cx="6035040" cy="1005840"/>
          </a:xfrm>
          <a:prstGeom prst="roundRect">
            <a:avLst>
              <a:gd name="adj" fmla="val 7273"/>
            </a:avLst>
          </a:prstGeom>
          <a:solidFill>
            <a:srgbClr val="1F9E89"/>
          </a:solidFill>
          <a:ln w="12700">
            <a:solidFill>
              <a:srgbClr val="1F9E89"/>
            </a:solidFill>
            <a:prstDash val="solid"/>
          </a:ln>
        </p:spPr>
      </p:sp>
      <p:sp>
        <p:nvSpPr>
          <p:cNvPr id="10" name="Text 8"/>
          <p:cNvSpPr txBox="1"/>
          <p:nvPr/>
        </p:nvSpPr>
        <p:spPr>
          <a:xfrm>
            <a:off x="2926080" y="347472"/>
            <a:ext cx="274320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KEY INSIGHT</a:t>
            </a:r>
            <a:endParaRPr lang="en-US" sz="800" dirty="0"/>
          </a:p>
        </p:txBody>
      </p:sp>
      <p:sp>
        <p:nvSpPr>
          <p:cNvPr id="11" name="Text 9"/>
          <p:cNvSpPr txBox="1"/>
          <p:nvPr/>
        </p:nvSpPr>
        <p:spPr>
          <a:xfrm>
            <a:off x="2926080" y="566928"/>
            <a:ext cx="5669280" cy="64008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The average procedure cost is 2,552.50. Eight of the 20 procedures cost more, led by the Upper GI Series (7,000) and MRI-Spine (6,000).</a:t>
            </a:r>
            <a:endParaRPr lang="en-US" sz="1150" dirty="0"/>
          </a:p>
        </p:txBody>
      </p:sp>
      <p:sp>
        <p:nvSpPr>
          <p:cNvPr id="12" name="Shape 10"/>
          <p:cNvSpPr/>
          <p:nvPr/>
        </p:nvSpPr>
        <p:spPr>
          <a:xfrm>
            <a:off x="2743200" y="1463040"/>
            <a:ext cx="3063240" cy="2240280"/>
          </a:xfrm>
          <a:prstGeom prst="roundRect">
            <a:avLst>
              <a:gd name="adj" fmla="val 2449"/>
            </a:avLst>
          </a:prstGeom>
          <a:solidFill>
            <a:srgbClr val="151B1F"/>
          </a:solidFill>
          <a:ln w="12700">
            <a:solidFill>
              <a:srgbClr val="151B1F"/>
            </a:solidFill>
            <a:prstDash val="solid"/>
          </a:ln>
        </p:spPr>
      </p:sp>
      <p:sp>
        <p:nvSpPr>
          <p:cNvPr id="13" name="Text 11"/>
          <p:cNvSpPr txBox="1"/>
          <p:nvPr/>
        </p:nvSpPr>
        <p:spPr>
          <a:xfrm>
            <a:off x="2852928" y="1536192"/>
            <a:ext cx="2880360" cy="2103120"/>
          </a:xfrm>
          <a:prstGeom prst="rect">
            <a:avLst/>
          </a:prstGeom>
          <a:noFill/>
          <a:ln/>
        </p:spPr>
        <p:txBody>
          <a:bodyPr wrap="square" lIns="0" tIns="0" rIns="0" bIns="0" rtlCol="0" anchor="t"/>
          <a:lstStyle/>
          <a:p>
            <a:pPr marL="0" indent="0">
              <a:buNone/>
            </a:pPr>
            <a:r>
              <a:rPr lang="en-US" sz="800" dirty="0">
                <a:solidFill>
                  <a:srgbClr val="E8EDEF"/>
                </a:solidFill>
                <a:latin typeface="Consolas" pitchFamily="34" charset="0"/>
                <a:ea typeface="Consolas" pitchFamily="34" charset="-122"/>
                <a:cs typeface="Consolas" pitchFamily="34" charset="-120"/>
              </a:rPr>
              <a:t>-- Cost above average</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SELECT name AS procedure_name,</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cost AS procedure_cost</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FROM procedures</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WHERE cost &gt; (</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SELECT AVG(cost)</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FROM procedures</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5943600" y="1463040"/>
            <a:ext cx="2834640" cy="2240280"/>
          </a:xfrm>
          <a:prstGeom prst="roundRect">
            <a:avLst>
              <a:gd name="adj" fmla="val 2449"/>
            </a:avLst>
          </a:prstGeom>
          <a:solidFill>
            <a:srgbClr val="F2A91E"/>
          </a:solidFill>
          <a:ln w="12700">
            <a:solidFill>
              <a:srgbClr val="F2A9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2651760" cy="914400"/>
        </p:xfrm>
        <a:graphic>
          <a:graphicData uri="http://schemas.openxmlformats.org/drawingml/2006/table">
            <a:tbl>
              <a:tblPr/>
              <a:tblGrid>
                <a:gridCol w="1823085">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tblGrid>
              <a:tr h="24688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procedure_name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procedure_cost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Fluoroscopy - Upper GI Series</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7000</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MRI-Spine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MRI-Brain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5000</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PET-CT Scan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5000</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Fluoroscopy - Barium Enema</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3"/>
          <p:cNvSpPr txBox="1"/>
          <p:nvPr/>
        </p:nvSpPr>
        <p:spPr>
          <a:xfrm>
            <a:off x="6035040" y="3456432"/>
            <a:ext cx="2651760" cy="201168"/>
          </a:xfrm>
          <a:prstGeom prst="rect">
            <a:avLst/>
          </a:prstGeom>
          <a:noFill/>
          <a:ln/>
        </p:spPr>
        <p:txBody>
          <a:bodyPr wrap="square" lIns="0" tIns="0" rIns="0" bIns="0" rtlCol="0" anchor="ctr"/>
          <a:lstStyle/>
          <a:p>
            <a:pPr marL="0" indent="0">
              <a:buNone/>
            </a:pPr>
            <a:r>
              <a:rPr lang="en-US" sz="800" i="1" dirty="0">
                <a:solidFill>
                  <a:srgbClr val="1F262B"/>
                </a:solidFill>
                <a:latin typeface="Calibri" pitchFamily="34" charset="0"/>
                <a:ea typeface="Calibri" pitchFamily="34" charset="-122"/>
                <a:cs typeface="Calibri" pitchFamily="34" charset="-120"/>
              </a:rPr>
              <a:t>Showing top 5 of 8 rows</a:t>
            </a:r>
            <a:endParaRPr lang="en-US" sz="800" dirty="0"/>
          </a:p>
        </p:txBody>
      </p:sp>
      <p:sp>
        <p:nvSpPr>
          <p:cNvPr id="17" name="Shape 14"/>
          <p:cNvSpPr/>
          <p:nvPr/>
        </p:nvSpPr>
        <p:spPr>
          <a:xfrm>
            <a:off x="2743200" y="3931920"/>
            <a:ext cx="6035040" cy="731520"/>
          </a:xfrm>
          <a:prstGeom prst="roundRect">
            <a:avLst>
              <a:gd name="adj" fmla="val 10000"/>
            </a:avLst>
          </a:prstGeom>
          <a:solidFill>
            <a:srgbClr val="FFFFFF"/>
          </a:solidFill>
          <a:ln w="12700">
            <a:solidFill>
              <a:srgbClr val="DDE3E6"/>
            </a:solidFill>
            <a:prstDash val="solid"/>
          </a:ln>
        </p:spPr>
      </p:sp>
      <p:sp>
        <p:nvSpPr>
          <p:cNvPr id="18" name="Text 15"/>
          <p:cNvSpPr txBox="1"/>
          <p:nvPr/>
        </p:nvSpPr>
        <p:spPr>
          <a:xfrm>
            <a:off x="2926080" y="3931920"/>
            <a:ext cx="5669280" cy="731520"/>
          </a:xfrm>
          <a:prstGeom prst="rect">
            <a:avLst/>
          </a:prstGeom>
          <a:noFill/>
          <a:ln/>
        </p:spPr>
        <p:txBody>
          <a:bodyPr wrap="square" lIns="0" tIns="0" rIns="0" bIns="0" rtlCol="0" anchor="ctr"/>
          <a:lstStyle/>
          <a:p>
            <a:pPr marL="0" indent="0">
              <a:buNone/>
            </a:pPr>
            <a:r>
              <a:rPr lang="en-US" sz="900" b="1" dirty="0">
                <a:solidFill>
                  <a:srgbClr val="E8664D"/>
                </a:solidFill>
                <a:latin typeface="Calibri" pitchFamily="34" charset="0"/>
                <a:ea typeface="Calibri" pitchFamily="34" charset="-122"/>
                <a:cs typeface="Calibri" pitchFamily="34" charset="-120"/>
              </a:rPr>
              <a:t>WHAT WE DO   </a:t>
            </a:r>
            <a:r>
              <a:rPr lang="en-US" sz="1150" b="1" dirty="0">
                <a:solidFill>
                  <a:srgbClr val="1F262B"/>
                </a:solidFill>
                <a:latin typeface="Calibri" pitchFamily="34" charset="0"/>
                <a:ea typeface="Calibri" pitchFamily="34" charset="-122"/>
                <a:cs typeface="Calibri" pitchFamily="34" charset="-120"/>
              </a:rPr>
              <a:t>Review use of the 8 high-cost procedures and plan budgets around them.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468880" cy="5143500"/>
          </a:xfrm>
          <a:prstGeom prst="rect">
            <a:avLst/>
          </a:prstGeom>
          <a:solidFill>
            <a:srgbClr val="1F262B"/>
          </a:solidFill>
          <a:ln w="12700">
            <a:solidFill>
              <a:srgbClr val="1F262B"/>
            </a:solidFill>
            <a:prstDash val="solid"/>
          </a:ln>
        </p:spPr>
      </p:sp>
      <p:sp>
        <p:nvSpPr>
          <p:cNvPr id="3" name="Text 1"/>
          <p:cNvSpPr txBox="1"/>
          <p:nvPr/>
        </p:nvSpPr>
        <p:spPr>
          <a:xfrm>
            <a:off x="274320" y="320040"/>
            <a:ext cx="1371600" cy="548640"/>
          </a:xfrm>
          <a:prstGeom prst="rect">
            <a:avLst/>
          </a:prstGeom>
          <a:noFill/>
          <a:ln/>
        </p:spPr>
        <p:txBody>
          <a:bodyPr wrap="square" lIns="0" tIns="0" rIns="0" bIns="0" rtlCol="0" anchor="ctr"/>
          <a:lstStyle/>
          <a:p>
            <a:pPr marL="0" indent="0">
              <a:buNone/>
            </a:pPr>
            <a:r>
              <a:rPr lang="en-US" sz="3200" b="1" dirty="0">
                <a:solidFill>
                  <a:srgbClr val="F2A91E"/>
                </a:solidFill>
                <a:latin typeface="Georgia" pitchFamily="34" charset="0"/>
                <a:ea typeface="Georgia" pitchFamily="34" charset="-122"/>
                <a:cs typeface="Georgia" pitchFamily="34" charset="-120"/>
              </a:rPr>
              <a:t>05</a:t>
            </a:r>
            <a:endParaRPr lang="en-US" sz="3200" dirty="0"/>
          </a:p>
        </p:txBody>
      </p:sp>
      <p:sp>
        <p:nvSpPr>
          <p:cNvPr id="4" name="Text 2"/>
          <p:cNvSpPr txBox="1"/>
          <p:nvPr/>
        </p:nvSpPr>
        <p:spPr>
          <a:xfrm>
            <a:off x="274320" y="109728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BUSINESS QUESTION</a:t>
            </a:r>
            <a:endParaRPr lang="en-US" sz="800" dirty="0"/>
          </a:p>
        </p:txBody>
      </p:sp>
      <p:sp>
        <p:nvSpPr>
          <p:cNvPr id="5" name="Text 3"/>
          <p:cNvSpPr txBox="1"/>
          <p:nvPr/>
        </p:nvSpPr>
        <p:spPr>
          <a:xfrm>
            <a:off x="274320" y="1325880"/>
            <a:ext cx="2011680" cy="8686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Which physicians have no primary department?</a:t>
            </a:r>
            <a:endParaRPr lang="en-US" sz="1400" dirty="0"/>
          </a:p>
        </p:txBody>
      </p:sp>
      <p:sp>
        <p:nvSpPr>
          <p:cNvPr id="6" name="Text 4"/>
          <p:cNvSpPr txBox="1"/>
          <p:nvPr/>
        </p:nvSpPr>
        <p:spPr>
          <a:xfrm>
            <a:off x="274320" y="237744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WHY IT MATTERS</a:t>
            </a:r>
            <a:endParaRPr lang="en-US" sz="800" dirty="0"/>
          </a:p>
        </p:txBody>
      </p:sp>
      <p:sp>
        <p:nvSpPr>
          <p:cNvPr id="7" name="Text 5"/>
          <p:cNvSpPr txBox="1"/>
          <p:nvPr/>
        </p:nvSpPr>
        <p:spPr>
          <a:xfrm>
            <a:off x="274320" y="2606040"/>
            <a:ext cx="2011680" cy="1371600"/>
          </a:xfrm>
          <a:prstGeom prst="rect">
            <a:avLst/>
          </a:prstGeom>
          <a:noFill/>
          <a:ln/>
        </p:spPr>
        <p:txBody>
          <a:bodyPr wrap="square" lIns="0" tIns="0" rIns="0" bIns="0" rtlCol="0" anchor="t"/>
          <a:lstStyle/>
          <a:p>
            <a:pPr marL="0" indent="0">
              <a:buNone/>
            </a:pPr>
            <a:r>
              <a:rPr lang="en-US" sz="1050" dirty="0">
                <a:solidFill>
                  <a:srgbClr val="DDE3E6"/>
                </a:solidFill>
                <a:latin typeface="Calibri" pitchFamily="34" charset="0"/>
                <a:ea typeface="Calibri" pitchFamily="34" charset="-122"/>
                <a:cs typeface="Calibri" pitchFamily="34" charset="-120"/>
              </a:rPr>
              <a:t>Doctors without a primary department are hard to schedule and have unclear reporting lines.</a:t>
            </a:r>
            <a:endParaRPr lang="en-US" sz="1050" dirty="0"/>
          </a:p>
        </p:txBody>
      </p:sp>
      <p:sp>
        <p:nvSpPr>
          <p:cNvPr id="8" name="Text 6"/>
          <p:cNvSpPr txBox="1"/>
          <p:nvPr/>
        </p:nvSpPr>
        <p:spPr>
          <a:xfrm>
            <a:off x="274320" y="4663440"/>
            <a:ext cx="2011680" cy="228600"/>
          </a:xfrm>
          <a:prstGeom prst="rect">
            <a:avLst/>
          </a:prstGeom>
          <a:noFill/>
          <a:ln/>
        </p:spPr>
        <p:txBody>
          <a:bodyPr wrap="square" lIns="0" tIns="0" rIns="0" bIns="0" rtlCol="0" anchor="ctr"/>
          <a:lstStyle/>
          <a:p>
            <a:pPr marL="0" indent="0">
              <a:buNone/>
            </a:pPr>
            <a:r>
              <a:rPr lang="en-US" sz="800" dirty="0">
                <a:solidFill>
                  <a:srgbClr val="9AA6AD"/>
                </a:solidFill>
                <a:latin typeface="Calibri" pitchFamily="34" charset="0"/>
                <a:ea typeface="Calibri" pitchFamily="34" charset="-122"/>
                <a:cs typeface="Calibri" pitchFamily="34" charset="-120"/>
              </a:rPr>
              <a:t>Subquery  |  data check</a:t>
            </a:r>
            <a:endParaRPr lang="en-US" sz="800" dirty="0"/>
          </a:p>
        </p:txBody>
      </p:sp>
      <p:sp>
        <p:nvSpPr>
          <p:cNvPr id="9" name="Shape 7"/>
          <p:cNvSpPr/>
          <p:nvPr/>
        </p:nvSpPr>
        <p:spPr>
          <a:xfrm>
            <a:off x="2743200" y="274320"/>
            <a:ext cx="6035040" cy="1005840"/>
          </a:xfrm>
          <a:prstGeom prst="roundRect">
            <a:avLst>
              <a:gd name="adj" fmla="val 7273"/>
            </a:avLst>
          </a:prstGeom>
          <a:solidFill>
            <a:srgbClr val="1F9E89"/>
          </a:solidFill>
          <a:ln w="12700">
            <a:solidFill>
              <a:srgbClr val="1F9E89"/>
            </a:solidFill>
            <a:prstDash val="solid"/>
          </a:ln>
        </p:spPr>
      </p:sp>
      <p:sp>
        <p:nvSpPr>
          <p:cNvPr id="10" name="Text 8"/>
          <p:cNvSpPr txBox="1"/>
          <p:nvPr/>
        </p:nvSpPr>
        <p:spPr>
          <a:xfrm>
            <a:off x="2926080" y="347472"/>
            <a:ext cx="274320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KEY INSIGHT</a:t>
            </a:r>
            <a:endParaRPr lang="en-US" sz="800" dirty="0"/>
          </a:p>
        </p:txBody>
      </p:sp>
      <p:sp>
        <p:nvSpPr>
          <p:cNvPr id="11" name="Text 9"/>
          <p:cNvSpPr txBox="1"/>
          <p:nvPr/>
        </p:nvSpPr>
        <p:spPr>
          <a:xfrm>
            <a:off x="2926080" y="566928"/>
            <a:ext cx="5669280" cy="64008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Ten physicians have a non-primary affiliation. Two of them (Dr. Turk, Dr. Wen) also have a primary department. The other 8 have no primary department recorded.</a:t>
            </a:r>
            <a:endParaRPr lang="en-US" sz="1150" dirty="0"/>
          </a:p>
        </p:txBody>
      </p:sp>
      <p:sp>
        <p:nvSpPr>
          <p:cNvPr id="12" name="Shape 10"/>
          <p:cNvSpPr/>
          <p:nvPr/>
        </p:nvSpPr>
        <p:spPr>
          <a:xfrm>
            <a:off x="2743200" y="1463040"/>
            <a:ext cx="3063240" cy="2240280"/>
          </a:xfrm>
          <a:prstGeom prst="roundRect">
            <a:avLst>
              <a:gd name="adj" fmla="val 2449"/>
            </a:avLst>
          </a:prstGeom>
          <a:solidFill>
            <a:srgbClr val="151B1F"/>
          </a:solidFill>
          <a:ln w="12700">
            <a:solidFill>
              <a:srgbClr val="151B1F"/>
            </a:solidFill>
            <a:prstDash val="solid"/>
          </a:ln>
        </p:spPr>
      </p:sp>
      <p:sp>
        <p:nvSpPr>
          <p:cNvPr id="13" name="Text 11"/>
          <p:cNvSpPr txBox="1"/>
          <p:nvPr/>
        </p:nvSpPr>
        <p:spPr>
          <a:xfrm>
            <a:off x="2852928" y="1536192"/>
            <a:ext cx="2880360" cy="2103120"/>
          </a:xfrm>
          <a:prstGeom prst="rect">
            <a:avLst/>
          </a:prstGeom>
          <a:noFill/>
          <a:ln/>
        </p:spPr>
        <p:txBody>
          <a:bodyPr wrap="square" lIns="0" tIns="0" rIns="0" bIns="0" rtlCol="0" anchor="t"/>
          <a:lstStyle/>
          <a:p>
            <a:pPr marL="0" indent="0">
              <a:buNone/>
            </a:pPr>
            <a:r>
              <a:rPr lang="en-US" sz="800" dirty="0">
                <a:solidFill>
                  <a:srgbClr val="E8EDEF"/>
                </a:solidFill>
                <a:latin typeface="Consolas" pitchFamily="34" charset="0"/>
                <a:ea typeface="Consolas" pitchFamily="34" charset="-122"/>
                <a:cs typeface="Consolas" pitchFamily="34" charset="-120"/>
              </a:rPr>
              <a:t>-- Primary affiliation = 'f'</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SELECT *</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FROM Physician</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WHERE employee_id IN (</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SELECT physician_id</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FROM affiliated_with</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WHERE primary_affiliation='f'</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5943600" y="1463040"/>
            <a:ext cx="2834640" cy="2240280"/>
          </a:xfrm>
          <a:prstGeom prst="roundRect">
            <a:avLst>
              <a:gd name="adj" fmla="val 2449"/>
            </a:avLst>
          </a:prstGeom>
          <a:solidFill>
            <a:srgbClr val="F2A91E"/>
          </a:solidFill>
          <a:ln w="12700">
            <a:solidFill>
              <a:srgbClr val="F2A9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2651760" cy="914400"/>
        </p:xfrm>
        <a:graphic>
          <a:graphicData uri="http://schemas.openxmlformats.org/drawingml/2006/table">
            <a:tbl>
              <a:tblPr/>
              <a:tblGrid>
                <a:gridCol w="662940">
                  <a:extLst>
                    <a:ext uri="{9D8B030D-6E8A-4147-A177-3AD203B41FA5}">
                      <a16:colId xmlns:a16="http://schemas.microsoft.com/office/drawing/2014/main" val="20000"/>
                    </a:ext>
                  </a:extLst>
                </a:gridCol>
                <a:gridCol w="994410">
                  <a:extLst>
                    <a:ext uri="{9D8B030D-6E8A-4147-A177-3AD203B41FA5}">
                      <a16:colId xmlns:a16="http://schemas.microsoft.com/office/drawing/2014/main" val="20001"/>
                    </a:ext>
                  </a:extLst>
                </a:gridCol>
                <a:gridCol w="994410">
                  <a:extLst>
                    <a:ext uri="{9D8B030D-6E8A-4147-A177-3AD203B41FA5}">
                      <a16:colId xmlns:a16="http://schemas.microsoft.com/office/drawing/2014/main" val="20002"/>
                    </a:ext>
                  </a:extLst>
                </a:gridCol>
              </a:tblGrid>
              <a:tr h="24688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employee_id</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position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Dr.Christopher Turk</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Surgical Attending</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Dr.John Wen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Surgical Attending</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Dr.Berkley McKenzie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Resident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Dr.Jaxson Khan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Asst. Intensivist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Dr.Cedric Kelley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Junior Resident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3"/>
          <p:cNvSpPr txBox="1"/>
          <p:nvPr/>
        </p:nvSpPr>
        <p:spPr>
          <a:xfrm>
            <a:off x="6035040" y="3456432"/>
            <a:ext cx="2651760" cy="201168"/>
          </a:xfrm>
          <a:prstGeom prst="rect">
            <a:avLst/>
          </a:prstGeom>
          <a:noFill/>
          <a:ln/>
        </p:spPr>
        <p:txBody>
          <a:bodyPr wrap="square" lIns="0" tIns="0" rIns="0" bIns="0" rtlCol="0" anchor="ctr"/>
          <a:lstStyle/>
          <a:p>
            <a:pPr marL="0" indent="0">
              <a:buNone/>
            </a:pPr>
            <a:r>
              <a:rPr lang="en-US" sz="800" i="1" dirty="0">
                <a:solidFill>
                  <a:srgbClr val="1F262B"/>
                </a:solidFill>
                <a:latin typeface="Calibri" pitchFamily="34" charset="0"/>
                <a:ea typeface="Calibri" pitchFamily="34" charset="-122"/>
                <a:cs typeface="Calibri" pitchFamily="34" charset="-120"/>
              </a:rPr>
              <a:t>Showing 5 of 10 rows</a:t>
            </a:r>
            <a:endParaRPr lang="en-US" sz="800" dirty="0"/>
          </a:p>
        </p:txBody>
      </p:sp>
      <p:sp>
        <p:nvSpPr>
          <p:cNvPr id="17" name="Shape 14"/>
          <p:cNvSpPr/>
          <p:nvPr/>
        </p:nvSpPr>
        <p:spPr>
          <a:xfrm>
            <a:off x="2743200" y="3931920"/>
            <a:ext cx="6035040" cy="731520"/>
          </a:xfrm>
          <a:prstGeom prst="roundRect">
            <a:avLst>
              <a:gd name="adj" fmla="val 10000"/>
            </a:avLst>
          </a:prstGeom>
          <a:solidFill>
            <a:srgbClr val="FFFFFF"/>
          </a:solidFill>
          <a:ln w="12700">
            <a:solidFill>
              <a:srgbClr val="DDE3E6"/>
            </a:solidFill>
            <a:prstDash val="solid"/>
          </a:ln>
        </p:spPr>
      </p:sp>
      <p:sp>
        <p:nvSpPr>
          <p:cNvPr id="18" name="Text 15"/>
          <p:cNvSpPr txBox="1"/>
          <p:nvPr/>
        </p:nvSpPr>
        <p:spPr>
          <a:xfrm>
            <a:off x="2926080" y="3931920"/>
            <a:ext cx="5669280" cy="731520"/>
          </a:xfrm>
          <a:prstGeom prst="rect">
            <a:avLst/>
          </a:prstGeom>
          <a:noFill/>
          <a:ln/>
        </p:spPr>
        <p:txBody>
          <a:bodyPr wrap="square" lIns="0" tIns="0" rIns="0" bIns="0" rtlCol="0" anchor="ctr"/>
          <a:lstStyle/>
          <a:p>
            <a:pPr marL="0" indent="0">
              <a:buNone/>
            </a:pPr>
            <a:r>
              <a:rPr lang="en-US" sz="900" b="1" dirty="0">
                <a:solidFill>
                  <a:srgbClr val="E8664D"/>
                </a:solidFill>
                <a:latin typeface="Calibri" pitchFamily="34" charset="0"/>
                <a:ea typeface="Calibri" pitchFamily="34" charset="-122"/>
                <a:cs typeface="Calibri" pitchFamily="34" charset="-120"/>
              </a:rPr>
              <a:t>WHAT WE DO   </a:t>
            </a:r>
            <a:r>
              <a:rPr lang="en-US" sz="1150" b="1" dirty="0">
                <a:solidFill>
                  <a:srgbClr val="1F262B"/>
                </a:solidFill>
                <a:latin typeface="Calibri" pitchFamily="34" charset="0"/>
                <a:ea typeface="Calibri" pitchFamily="34" charset="-122"/>
                <a:cs typeface="Calibri" pitchFamily="34" charset="-120"/>
              </a:rPr>
              <a:t>Assign a primary department to the 8 doctors who have none.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2468880" cy="5143500"/>
          </a:xfrm>
          <a:prstGeom prst="rect">
            <a:avLst/>
          </a:prstGeom>
          <a:solidFill>
            <a:srgbClr val="1F262B"/>
          </a:solidFill>
          <a:ln w="12700">
            <a:solidFill>
              <a:srgbClr val="1F262B"/>
            </a:solidFill>
            <a:prstDash val="solid"/>
          </a:ln>
        </p:spPr>
      </p:sp>
      <p:sp>
        <p:nvSpPr>
          <p:cNvPr id="3" name="Text 1"/>
          <p:cNvSpPr txBox="1"/>
          <p:nvPr/>
        </p:nvSpPr>
        <p:spPr>
          <a:xfrm>
            <a:off x="274320" y="320040"/>
            <a:ext cx="1371600" cy="548640"/>
          </a:xfrm>
          <a:prstGeom prst="rect">
            <a:avLst/>
          </a:prstGeom>
          <a:noFill/>
          <a:ln/>
        </p:spPr>
        <p:txBody>
          <a:bodyPr wrap="square" lIns="0" tIns="0" rIns="0" bIns="0" rtlCol="0" anchor="ctr"/>
          <a:lstStyle/>
          <a:p>
            <a:pPr marL="0" indent="0">
              <a:buNone/>
            </a:pPr>
            <a:r>
              <a:rPr lang="en-US" sz="3200" b="1" dirty="0">
                <a:solidFill>
                  <a:srgbClr val="F2A91E"/>
                </a:solidFill>
                <a:latin typeface="Georgia" pitchFamily="34" charset="0"/>
                <a:ea typeface="Georgia" pitchFamily="34" charset="-122"/>
                <a:cs typeface="Georgia" pitchFamily="34" charset="-120"/>
              </a:rPr>
              <a:t>06</a:t>
            </a:r>
            <a:endParaRPr lang="en-US" sz="3200" dirty="0"/>
          </a:p>
        </p:txBody>
      </p:sp>
      <p:sp>
        <p:nvSpPr>
          <p:cNvPr id="4" name="Text 2"/>
          <p:cNvSpPr txBox="1"/>
          <p:nvPr/>
        </p:nvSpPr>
        <p:spPr>
          <a:xfrm>
            <a:off x="274320" y="109728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BUSINESS QUESTION</a:t>
            </a:r>
            <a:endParaRPr lang="en-US" sz="800" dirty="0"/>
          </a:p>
        </p:txBody>
      </p:sp>
      <p:sp>
        <p:nvSpPr>
          <p:cNvPr id="5" name="Text 3"/>
          <p:cNvSpPr txBox="1"/>
          <p:nvPr/>
        </p:nvSpPr>
        <p:spPr>
          <a:xfrm>
            <a:off x="274320" y="1325880"/>
            <a:ext cx="2011680" cy="8686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Who are the senior and head chief physicians?</a:t>
            </a:r>
            <a:endParaRPr lang="en-US" sz="1400" dirty="0"/>
          </a:p>
        </p:txBody>
      </p:sp>
      <p:sp>
        <p:nvSpPr>
          <p:cNvPr id="6" name="Text 4"/>
          <p:cNvSpPr txBox="1"/>
          <p:nvPr/>
        </p:nvSpPr>
        <p:spPr>
          <a:xfrm>
            <a:off x="274320" y="2377440"/>
            <a:ext cx="201168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WHY IT MATTERS</a:t>
            </a:r>
            <a:endParaRPr lang="en-US" sz="800" dirty="0"/>
          </a:p>
        </p:txBody>
      </p:sp>
      <p:sp>
        <p:nvSpPr>
          <p:cNvPr id="7" name="Text 5"/>
          <p:cNvSpPr txBox="1"/>
          <p:nvPr/>
        </p:nvSpPr>
        <p:spPr>
          <a:xfrm>
            <a:off x="274320" y="2606040"/>
            <a:ext cx="2011680" cy="1371600"/>
          </a:xfrm>
          <a:prstGeom prst="rect">
            <a:avLst/>
          </a:prstGeom>
          <a:noFill/>
          <a:ln/>
        </p:spPr>
        <p:txBody>
          <a:bodyPr wrap="square" lIns="0" tIns="0" rIns="0" bIns="0" rtlCol="0" anchor="t"/>
          <a:lstStyle/>
          <a:p>
            <a:pPr marL="0" indent="0">
              <a:buNone/>
            </a:pPr>
            <a:r>
              <a:rPr lang="en-US" sz="1050" dirty="0">
                <a:solidFill>
                  <a:srgbClr val="DDE3E6"/>
                </a:solidFill>
                <a:latin typeface="Calibri" pitchFamily="34" charset="0"/>
                <a:ea typeface="Calibri" pitchFamily="34" charset="-122"/>
                <a:cs typeface="Calibri" pitchFamily="34" charset="-120"/>
              </a:rPr>
              <a:t>Shows how much senior experience the hospital has to guide residents and handle complex cases.</a:t>
            </a:r>
            <a:endParaRPr lang="en-US" sz="1050" dirty="0"/>
          </a:p>
        </p:txBody>
      </p:sp>
      <p:sp>
        <p:nvSpPr>
          <p:cNvPr id="8" name="Text 6"/>
          <p:cNvSpPr txBox="1"/>
          <p:nvPr/>
        </p:nvSpPr>
        <p:spPr>
          <a:xfrm>
            <a:off x="274320" y="4663440"/>
            <a:ext cx="2011680" cy="228600"/>
          </a:xfrm>
          <a:prstGeom prst="rect">
            <a:avLst/>
          </a:prstGeom>
          <a:noFill/>
          <a:ln/>
        </p:spPr>
        <p:txBody>
          <a:bodyPr wrap="square" lIns="0" tIns="0" rIns="0" bIns="0" rtlCol="0" anchor="ctr"/>
          <a:lstStyle/>
          <a:p>
            <a:pPr marL="0" indent="0">
              <a:buNone/>
            </a:pPr>
            <a:r>
              <a:rPr lang="en-US" sz="800" dirty="0">
                <a:solidFill>
                  <a:srgbClr val="9AA6AD"/>
                </a:solidFill>
                <a:latin typeface="Calibri" pitchFamily="34" charset="0"/>
                <a:ea typeface="Calibri" pitchFamily="34" charset="-122"/>
                <a:cs typeface="Calibri" pitchFamily="34" charset="-120"/>
              </a:rPr>
              <a:t>LIKE  |  subquery</a:t>
            </a:r>
            <a:endParaRPr lang="en-US" sz="800" dirty="0"/>
          </a:p>
        </p:txBody>
      </p:sp>
      <p:sp>
        <p:nvSpPr>
          <p:cNvPr id="9" name="Shape 7"/>
          <p:cNvSpPr/>
          <p:nvPr/>
        </p:nvSpPr>
        <p:spPr>
          <a:xfrm>
            <a:off x="2743200" y="274320"/>
            <a:ext cx="6035040" cy="1005840"/>
          </a:xfrm>
          <a:prstGeom prst="roundRect">
            <a:avLst>
              <a:gd name="adj" fmla="val 7273"/>
            </a:avLst>
          </a:prstGeom>
          <a:solidFill>
            <a:srgbClr val="1F9E89"/>
          </a:solidFill>
          <a:ln w="12700">
            <a:solidFill>
              <a:srgbClr val="1F9E89"/>
            </a:solidFill>
            <a:prstDash val="solid"/>
          </a:ln>
        </p:spPr>
      </p:sp>
      <p:sp>
        <p:nvSpPr>
          <p:cNvPr id="10" name="Text 8"/>
          <p:cNvSpPr txBox="1"/>
          <p:nvPr/>
        </p:nvSpPr>
        <p:spPr>
          <a:xfrm>
            <a:off x="2926080" y="347472"/>
            <a:ext cx="2743200" cy="228600"/>
          </a:xfrm>
          <a:prstGeom prst="rect">
            <a:avLst/>
          </a:prstGeom>
          <a:noFill/>
          <a:ln/>
        </p:spPr>
        <p:txBody>
          <a:bodyPr wrap="square" lIns="0" tIns="0" rIns="0" bIns="0" rtlCol="0" anchor="ctr"/>
          <a:lstStyle/>
          <a:p>
            <a:pPr marL="0" indent="0">
              <a:buNone/>
            </a:pPr>
            <a:r>
              <a:rPr lang="en-US" sz="800" b="1" dirty="0">
                <a:solidFill>
                  <a:srgbClr val="F2A91E"/>
                </a:solidFill>
                <a:latin typeface="Calibri" pitchFamily="34" charset="0"/>
                <a:ea typeface="Calibri" pitchFamily="34" charset="-122"/>
                <a:cs typeface="Calibri" pitchFamily="34" charset="-120"/>
              </a:rPr>
              <a:t>KEY INSIGHT</a:t>
            </a:r>
            <a:endParaRPr lang="en-US" sz="800" dirty="0"/>
          </a:p>
        </p:txBody>
      </p:sp>
      <p:sp>
        <p:nvSpPr>
          <p:cNvPr id="11" name="Text 9"/>
          <p:cNvSpPr txBox="1"/>
          <p:nvPr/>
        </p:nvSpPr>
        <p:spPr>
          <a:xfrm>
            <a:off x="2926080" y="566928"/>
            <a:ext cx="5669280" cy="64008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15 of the 35 physicians hold a Senior or Head Chief title. They form the leadership layer, with department heads such as Dr. Kelso and Dr. Cook among them.</a:t>
            </a:r>
            <a:endParaRPr lang="en-US" sz="1150" dirty="0"/>
          </a:p>
        </p:txBody>
      </p:sp>
      <p:sp>
        <p:nvSpPr>
          <p:cNvPr id="12" name="Shape 10"/>
          <p:cNvSpPr/>
          <p:nvPr/>
        </p:nvSpPr>
        <p:spPr>
          <a:xfrm>
            <a:off x="2743200" y="1463040"/>
            <a:ext cx="3063240" cy="2240280"/>
          </a:xfrm>
          <a:prstGeom prst="roundRect">
            <a:avLst>
              <a:gd name="adj" fmla="val 2449"/>
            </a:avLst>
          </a:prstGeom>
          <a:solidFill>
            <a:srgbClr val="151B1F"/>
          </a:solidFill>
          <a:ln w="12700">
            <a:solidFill>
              <a:srgbClr val="151B1F"/>
            </a:solidFill>
            <a:prstDash val="solid"/>
          </a:ln>
        </p:spPr>
      </p:sp>
      <p:sp>
        <p:nvSpPr>
          <p:cNvPr id="13" name="Text 11"/>
          <p:cNvSpPr txBox="1"/>
          <p:nvPr/>
        </p:nvSpPr>
        <p:spPr>
          <a:xfrm>
            <a:off x="2852928" y="1536192"/>
            <a:ext cx="2880360" cy="2103120"/>
          </a:xfrm>
          <a:prstGeom prst="rect">
            <a:avLst/>
          </a:prstGeom>
          <a:noFill/>
          <a:ln/>
        </p:spPr>
        <p:txBody>
          <a:bodyPr wrap="square" lIns="0" tIns="0" rIns="0" bIns="0" rtlCol="0" anchor="t"/>
          <a:lstStyle/>
          <a:p>
            <a:pPr marL="0" indent="0">
              <a:buNone/>
            </a:pPr>
            <a:r>
              <a:rPr lang="en-US" sz="800" dirty="0">
                <a:solidFill>
                  <a:srgbClr val="E8EDEF"/>
                </a:solidFill>
                <a:latin typeface="Consolas" pitchFamily="34" charset="0"/>
                <a:ea typeface="Consolas" pitchFamily="34" charset="-122"/>
                <a:cs typeface="Consolas" pitchFamily="34" charset="-120"/>
              </a:rPr>
              <a:t>-- Senior or Head Chief doctors</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SELECT * FROM Physician</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WHERE position IN (</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SELECT position FROM Physician</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WHERE position LIKE '%Senior%'</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     OR position LIKE '%Head Chief%'</a:t>
            </a:r>
            <a:endParaRPr lang="en-US" sz="800" dirty="0"/>
          </a:p>
          <a:p>
            <a:pPr marL="0" indent="0">
              <a:buNone/>
            </a:pPr>
            <a:r>
              <a:rPr lang="en-US" sz="800" dirty="0">
                <a:solidFill>
                  <a:srgbClr val="E8EDE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5943600" y="1463040"/>
            <a:ext cx="2834640" cy="2240280"/>
          </a:xfrm>
          <a:prstGeom prst="roundRect">
            <a:avLst>
              <a:gd name="adj" fmla="val 2449"/>
            </a:avLst>
          </a:prstGeom>
          <a:solidFill>
            <a:srgbClr val="F2A91E"/>
          </a:solidFill>
          <a:ln w="12700">
            <a:solidFill>
              <a:srgbClr val="F2A91E"/>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35040" y="1554480"/>
          <a:ext cx="2651760" cy="914400"/>
        </p:xfrm>
        <a:graphic>
          <a:graphicData uri="http://schemas.openxmlformats.org/drawingml/2006/table">
            <a:tbl>
              <a:tblPr/>
              <a:tblGrid>
                <a:gridCol w="662940">
                  <a:extLst>
                    <a:ext uri="{9D8B030D-6E8A-4147-A177-3AD203B41FA5}">
                      <a16:colId xmlns:a16="http://schemas.microsoft.com/office/drawing/2014/main" val="20000"/>
                    </a:ext>
                  </a:extLst>
                </a:gridCol>
                <a:gridCol w="911543">
                  <a:extLst>
                    <a:ext uri="{9D8B030D-6E8A-4147-A177-3AD203B41FA5}">
                      <a16:colId xmlns:a16="http://schemas.microsoft.com/office/drawing/2014/main" val="20001"/>
                    </a:ext>
                  </a:extLst>
                </a:gridCol>
                <a:gridCol w="1077277">
                  <a:extLst>
                    <a:ext uri="{9D8B030D-6E8A-4147-A177-3AD203B41FA5}">
                      <a16:colId xmlns:a16="http://schemas.microsoft.com/office/drawing/2014/main" val="20002"/>
                    </a:ext>
                  </a:extLst>
                </a:gridCol>
              </a:tblGrid>
              <a:tr h="246888">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employee_id</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name</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tc>
                  <a:txBody>
                    <a:bodyPr/>
                    <a:lstStyle/>
                    <a:p>
                      <a:pPr marL="0" indent="0">
                        <a:buNone/>
                      </a:pPr>
                      <a:r>
                        <a:rPr lang="en-US" sz="750" b="1" dirty="0">
                          <a:solidFill>
                            <a:srgbClr val="FFFFFF"/>
                          </a:solidFill>
                          <a:latin typeface="Calibri" pitchFamily="34" charset="0"/>
                          <a:ea typeface="Calibri" pitchFamily="34" charset="-122"/>
                          <a:cs typeface="Calibri" pitchFamily="34" charset="-120"/>
                        </a:rPr>
                        <a:t>position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1F262B"/>
                    </a:solidFill>
                  </a:tcPr>
                </a:tc>
                <a:extLst>
                  <a:ext uri="{0D108BD9-81ED-4DB2-BD59-A6C34878D82A}">
                    <a16:rowId xmlns:a16="http://schemas.microsoft.com/office/drawing/2014/main" val="10000"/>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Dr.Percival Cox</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Senior Attending Physician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Dr.Bob Kelso</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Head Chief of pulmonology</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Dr.Imani Harper</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Senior Attending Nephrologist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Dr.Scott Vaughan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Senior Attending Gynecologist</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Dr.Mabel Leal</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tc>
                  <a:txBody>
                    <a:bodyPr/>
                    <a:lstStyle/>
                    <a:p>
                      <a:pPr marL="0" indent="0">
                        <a:buNone/>
                      </a:pPr>
                      <a:r>
                        <a:rPr lang="en-US" sz="750" dirty="0">
                          <a:solidFill>
                            <a:srgbClr val="1F262B"/>
                          </a:solidFill>
                          <a:latin typeface="Calibri" pitchFamily="34" charset="0"/>
                          <a:ea typeface="Calibri" pitchFamily="34" charset="-122"/>
                          <a:cs typeface="Calibri" pitchFamily="34" charset="-120"/>
                        </a:rPr>
                        <a:t>Senior ENT Surgeon</a:t>
                      </a:r>
                      <a:endParaRPr lang="en-US" sz="750" dirty="0">
                        <a:latin typeface="Calibri" charset="0"/>
                        <a:ea typeface="Calibri" charset="0"/>
                        <a:cs typeface="Calibri" charset="0"/>
                      </a:endParaRPr>
                    </a:p>
                  </a:txBody>
                  <a:tcPr marL="45720" marR="45720" marT="18288" marB="18288" anchor="ctr">
                    <a:lnL w="6350" cap="flat" cmpd="sng" algn="ctr">
                      <a:solidFill>
                        <a:srgbClr val="DDE3E6"/>
                      </a:solidFill>
                      <a:prstDash val="solid"/>
                      <a:round/>
                      <a:headEnd type="none" w="med" len="med"/>
                      <a:tailEnd type="none" w="med" len="med"/>
                    </a:lnL>
                    <a:lnR w="6350" cap="flat" cmpd="sng" algn="ctr">
                      <a:solidFill>
                        <a:srgbClr val="DDE3E6"/>
                      </a:solidFill>
                      <a:prstDash val="solid"/>
                      <a:round/>
                      <a:headEnd type="none" w="med" len="med"/>
                      <a:tailEnd type="none" w="med" len="med"/>
                    </a:lnR>
                    <a:lnT w="6350" cap="flat" cmpd="sng" algn="ctr">
                      <a:solidFill>
                        <a:srgbClr val="DDE3E6"/>
                      </a:solidFill>
                      <a:prstDash val="solid"/>
                      <a:round/>
                      <a:headEnd type="none" w="med" len="med"/>
                      <a:tailEnd type="none" w="med" len="med"/>
                    </a:lnT>
                    <a:lnB w="6350" cap="flat" cmpd="sng" algn="ctr">
                      <a:solidFill>
                        <a:srgbClr val="DDE3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Text 13"/>
          <p:cNvSpPr txBox="1"/>
          <p:nvPr/>
        </p:nvSpPr>
        <p:spPr>
          <a:xfrm>
            <a:off x="6035040" y="3456432"/>
            <a:ext cx="2651760" cy="201168"/>
          </a:xfrm>
          <a:prstGeom prst="rect">
            <a:avLst/>
          </a:prstGeom>
          <a:noFill/>
          <a:ln/>
        </p:spPr>
        <p:txBody>
          <a:bodyPr wrap="square" lIns="0" tIns="0" rIns="0" bIns="0" rtlCol="0" anchor="ctr"/>
          <a:lstStyle/>
          <a:p>
            <a:pPr marL="0" indent="0">
              <a:buNone/>
            </a:pPr>
            <a:r>
              <a:rPr lang="en-US" sz="800" i="1" dirty="0">
                <a:solidFill>
                  <a:srgbClr val="1F262B"/>
                </a:solidFill>
                <a:latin typeface="Calibri" pitchFamily="34" charset="0"/>
                <a:ea typeface="Calibri" pitchFamily="34" charset="-122"/>
                <a:cs typeface="Calibri" pitchFamily="34" charset="-120"/>
              </a:rPr>
              <a:t>Showing 5 of 15 rows</a:t>
            </a:r>
            <a:endParaRPr lang="en-US" sz="800" dirty="0"/>
          </a:p>
        </p:txBody>
      </p:sp>
      <p:sp>
        <p:nvSpPr>
          <p:cNvPr id="17" name="Shape 14"/>
          <p:cNvSpPr/>
          <p:nvPr/>
        </p:nvSpPr>
        <p:spPr>
          <a:xfrm>
            <a:off x="2743200" y="3931920"/>
            <a:ext cx="6035040" cy="731520"/>
          </a:xfrm>
          <a:prstGeom prst="roundRect">
            <a:avLst>
              <a:gd name="adj" fmla="val 10000"/>
            </a:avLst>
          </a:prstGeom>
          <a:solidFill>
            <a:srgbClr val="FFFFFF"/>
          </a:solidFill>
          <a:ln w="12700">
            <a:solidFill>
              <a:srgbClr val="DDE3E6"/>
            </a:solidFill>
            <a:prstDash val="solid"/>
          </a:ln>
        </p:spPr>
      </p:sp>
      <p:sp>
        <p:nvSpPr>
          <p:cNvPr id="18" name="Text 15"/>
          <p:cNvSpPr txBox="1"/>
          <p:nvPr/>
        </p:nvSpPr>
        <p:spPr>
          <a:xfrm>
            <a:off x="2926080" y="3931920"/>
            <a:ext cx="5669280" cy="731520"/>
          </a:xfrm>
          <a:prstGeom prst="rect">
            <a:avLst/>
          </a:prstGeom>
          <a:noFill/>
          <a:ln/>
        </p:spPr>
        <p:txBody>
          <a:bodyPr wrap="square" lIns="0" tIns="0" rIns="0" bIns="0" rtlCol="0" anchor="ctr"/>
          <a:lstStyle/>
          <a:p>
            <a:pPr marL="0" indent="0">
              <a:buNone/>
            </a:pPr>
            <a:r>
              <a:rPr lang="en-US" sz="900" b="1" dirty="0">
                <a:solidFill>
                  <a:srgbClr val="E8664D"/>
                </a:solidFill>
                <a:latin typeface="Calibri" pitchFamily="34" charset="0"/>
                <a:ea typeface="Calibri" pitchFamily="34" charset="-122"/>
                <a:cs typeface="Calibri" pitchFamily="34" charset="-120"/>
              </a:rPr>
              <a:t>WHAT WE DO   </a:t>
            </a:r>
            <a:r>
              <a:rPr lang="en-US" sz="1150" b="1" dirty="0">
                <a:solidFill>
                  <a:srgbClr val="1F262B"/>
                </a:solidFill>
                <a:latin typeface="Calibri" pitchFamily="34" charset="0"/>
                <a:ea typeface="Calibri" pitchFamily="34" charset="-122"/>
                <a:cs typeface="Calibri" pitchFamily="34" charset="-120"/>
              </a:rPr>
              <a:t>Pair senior doctors with residents for mentoring and supervision.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3291840" cy="548640"/>
          </a:xfrm>
          <a:prstGeom prst="rect">
            <a:avLst/>
          </a:prstGeom>
          <a:noFill/>
          <a:ln/>
        </p:spPr>
        <p:txBody>
          <a:bodyPr wrap="square" lIns="0" tIns="0" rIns="0" bIns="0" rtlCol="0" anchor="ctr"/>
          <a:lstStyle/>
          <a:p>
            <a:pPr marL="0" indent="0">
              <a:buNone/>
            </a:pPr>
            <a:r>
              <a:rPr lang="en-US" sz="2800" b="1" dirty="0">
                <a:solidFill>
                  <a:srgbClr val="1F262B"/>
                </a:solidFill>
                <a:latin typeface="Georgia" pitchFamily="34" charset="0"/>
                <a:ea typeface="Georgia" pitchFamily="34" charset="-122"/>
                <a:cs typeface="Georgia" pitchFamily="34" charset="-120"/>
              </a:rPr>
              <a:t>Conclusion</a:t>
            </a:r>
            <a:endParaRPr lang="en-US" sz="2800" dirty="0"/>
          </a:p>
        </p:txBody>
      </p:sp>
      <p:sp>
        <p:nvSpPr>
          <p:cNvPr id="3" name="Text 1"/>
          <p:cNvSpPr txBox="1"/>
          <p:nvPr/>
        </p:nvSpPr>
        <p:spPr>
          <a:xfrm>
            <a:off x="548640" y="1188720"/>
            <a:ext cx="3291840" cy="2194560"/>
          </a:xfrm>
          <a:prstGeom prst="rect">
            <a:avLst/>
          </a:prstGeom>
          <a:noFill/>
          <a:ln/>
        </p:spPr>
        <p:txBody>
          <a:bodyPr wrap="square" lIns="0" tIns="0" rIns="0" bIns="0" rtlCol="0" anchor="t"/>
          <a:lstStyle/>
          <a:p>
            <a:pPr marL="0" indent="0">
              <a:buNone/>
            </a:pPr>
            <a:r>
              <a:rPr lang="en-US" sz="1300" dirty="0">
                <a:solidFill>
                  <a:srgbClr val="5F6B73"/>
                </a:solidFill>
                <a:latin typeface="Calibri" pitchFamily="34" charset="0"/>
                <a:ea typeface="Calibri" pitchFamily="34" charset="-122"/>
                <a:cs typeface="Calibri" pitchFamily="34" charset="-120"/>
              </a:rPr>
              <a:t>SQL turns raw hospital tables into clear answers. Joining physicians, departments, patients and diagnoses shows who leads care, how patients are treated, where data needs fixing and where procedure costs concentrate.</a:t>
            </a:r>
            <a:endParaRPr lang="en-US" sz="1300" dirty="0"/>
          </a:p>
        </p:txBody>
      </p:sp>
      <p:sp>
        <p:nvSpPr>
          <p:cNvPr id="4" name="Shape 2"/>
          <p:cNvSpPr/>
          <p:nvPr/>
        </p:nvSpPr>
        <p:spPr>
          <a:xfrm>
            <a:off x="4297680" y="548640"/>
            <a:ext cx="4297680" cy="1143000"/>
          </a:xfrm>
          <a:prstGeom prst="roundRect">
            <a:avLst>
              <a:gd name="adj" fmla="val 6400"/>
            </a:avLst>
          </a:prstGeom>
          <a:solidFill>
            <a:srgbClr val="1F9E89"/>
          </a:solidFill>
          <a:ln w="12700">
            <a:solidFill>
              <a:srgbClr val="1F9E89"/>
            </a:solidFill>
            <a:prstDash val="solid"/>
          </a:ln>
        </p:spPr>
      </p:sp>
      <p:sp>
        <p:nvSpPr>
          <p:cNvPr id="5" name="Text 3"/>
          <p:cNvSpPr txBox="1"/>
          <p:nvPr/>
        </p:nvSpPr>
        <p:spPr>
          <a:xfrm>
            <a:off x="4526280" y="658368"/>
            <a:ext cx="384048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Staffing</a:t>
            </a:r>
            <a:endParaRPr lang="en-US" sz="1500" dirty="0"/>
          </a:p>
        </p:txBody>
      </p:sp>
      <p:sp>
        <p:nvSpPr>
          <p:cNvPr id="6" name="Text 4"/>
          <p:cNvSpPr txBox="1"/>
          <p:nvPr/>
        </p:nvSpPr>
        <p:spPr>
          <a:xfrm>
            <a:off x="4526280" y="1005840"/>
            <a:ext cx="3840480" cy="5943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Give the 8 doctors with no primary department a home department.</a:t>
            </a:r>
            <a:endParaRPr lang="en-US" sz="1200" dirty="0"/>
          </a:p>
        </p:txBody>
      </p:sp>
      <p:sp>
        <p:nvSpPr>
          <p:cNvPr id="7" name="Shape 5"/>
          <p:cNvSpPr/>
          <p:nvPr/>
        </p:nvSpPr>
        <p:spPr>
          <a:xfrm>
            <a:off x="4297680" y="1920240"/>
            <a:ext cx="4297680" cy="1143000"/>
          </a:xfrm>
          <a:prstGeom prst="roundRect">
            <a:avLst>
              <a:gd name="adj" fmla="val 6400"/>
            </a:avLst>
          </a:prstGeom>
          <a:solidFill>
            <a:srgbClr val="2B4A5A"/>
          </a:solidFill>
          <a:ln w="12700">
            <a:solidFill>
              <a:srgbClr val="2B4A5A"/>
            </a:solidFill>
            <a:prstDash val="solid"/>
          </a:ln>
        </p:spPr>
      </p:sp>
      <p:sp>
        <p:nvSpPr>
          <p:cNvPr id="8" name="Text 6"/>
          <p:cNvSpPr txBox="1"/>
          <p:nvPr/>
        </p:nvSpPr>
        <p:spPr>
          <a:xfrm>
            <a:off x="4526280" y="2029968"/>
            <a:ext cx="384048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Patient care</a:t>
            </a:r>
            <a:endParaRPr lang="en-US" sz="1500" dirty="0"/>
          </a:p>
        </p:txBody>
      </p:sp>
      <p:sp>
        <p:nvSpPr>
          <p:cNvPr id="9" name="Text 7"/>
          <p:cNvSpPr txBox="1"/>
          <p:nvPr/>
        </p:nvSpPr>
        <p:spPr>
          <a:xfrm>
            <a:off x="4526280" y="2377440"/>
            <a:ext cx="3840480" cy="5943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Monitor chronic pain cases and use senior doctors to guide residents.</a:t>
            </a:r>
            <a:endParaRPr lang="en-US" sz="1200" dirty="0"/>
          </a:p>
        </p:txBody>
      </p:sp>
      <p:sp>
        <p:nvSpPr>
          <p:cNvPr id="10" name="Shape 8"/>
          <p:cNvSpPr/>
          <p:nvPr/>
        </p:nvSpPr>
        <p:spPr>
          <a:xfrm>
            <a:off x="4297680" y="3291840"/>
            <a:ext cx="4297680" cy="1143000"/>
          </a:xfrm>
          <a:prstGeom prst="roundRect">
            <a:avLst>
              <a:gd name="adj" fmla="val 6400"/>
            </a:avLst>
          </a:prstGeom>
          <a:solidFill>
            <a:srgbClr val="E8664D"/>
          </a:solidFill>
          <a:ln w="12700">
            <a:solidFill>
              <a:srgbClr val="E8664D"/>
            </a:solidFill>
            <a:prstDash val="solid"/>
          </a:ln>
        </p:spPr>
      </p:sp>
      <p:sp>
        <p:nvSpPr>
          <p:cNvPr id="11" name="Text 9"/>
          <p:cNvSpPr txBox="1"/>
          <p:nvPr/>
        </p:nvSpPr>
        <p:spPr>
          <a:xfrm>
            <a:off x="4526280" y="3401568"/>
            <a:ext cx="384048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Cost</a:t>
            </a:r>
            <a:endParaRPr lang="en-US" sz="1500" dirty="0"/>
          </a:p>
        </p:txBody>
      </p:sp>
      <p:sp>
        <p:nvSpPr>
          <p:cNvPr id="12" name="Text 10"/>
          <p:cNvSpPr txBox="1"/>
          <p:nvPr/>
        </p:nvSpPr>
        <p:spPr>
          <a:xfrm>
            <a:off x="4526280" y="3749040"/>
            <a:ext cx="3840480" cy="59436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Review the 8 procedures that cost above the 2,552 average.</a:t>
            </a:r>
            <a:endParaRPr lang="en-US" sz="1200" dirty="0"/>
          </a:p>
        </p:txBody>
      </p:sp>
      <p:sp>
        <p:nvSpPr>
          <p:cNvPr id="13" name="Text 11"/>
          <p:cNvSpPr txBox="1"/>
          <p:nvPr/>
        </p:nvSpPr>
        <p:spPr>
          <a:xfrm>
            <a:off x="548640" y="4114800"/>
            <a:ext cx="3291840" cy="548640"/>
          </a:xfrm>
          <a:prstGeom prst="rect">
            <a:avLst/>
          </a:prstGeom>
          <a:noFill/>
          <a:ln/>
        </p:spPr>
        <p:txBody>
          <a:bodyPr wrap="square" lIns="0" tIns="0" rIns="0" bIns="0" rtlCol="0" anchor="ctr"/>
          <a:lstStyle/>
          <a:p>
            <a:pPr marL="0" indent="0">
              <a:buNone/>
            </a:pPr>
            <a:r>
              <a:rPr lang="en-US" sz="2600" b="1" dirty="0">
                <a:solidFill>
                  <a:srgbClr val="E8664D"/>
                </a:solidFill>
                <a:latin typeface="Georgia" pitchFamily="34" charset="0"/>
                <a:ea typeface="Georgia" pitchFamily="34" charset="-122"/>
                <a:cs typeface="Georgia" pitchFamily="34" charset="-120"/>
              </a:rPr>
              <a:t>Thank you</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1473</Words>
  <Application>Microsoft Office PowerPoint</Application>
  <PresentationFormat>On-screen Show (16:9)</PresentationFormat>
  <Paragraphs>241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MediTrack Hospital Management - SQL Case Study</dc:title>
  <dc:subject>PptxGenJS Presentation</dc:subject>
  <dc:creator>PptxGenJS</dc:creator>
  <cp:lastModifiedBy>Mihir Apkare</cp:lastModifiedBy>
  <cp:revision>2</cp:revision>
  <dcterms:created xsi:type="dcterms:W3CDTF">2026-10-02T14:54:09Z</dcterms:created>
  <dcterms:modified xsi:type="dcterms:W3CDTF">2026-10-02T14:55:49Z</dcterms:modified>
</cp:coreProperties>
</file>